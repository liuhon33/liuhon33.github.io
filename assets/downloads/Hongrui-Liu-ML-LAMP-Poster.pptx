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0104100" cy="11385550"/>
  <p:notesSz cx="20104100" cy="113855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5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6" d="100"/>
          <a:sy n="26" d="100"/>
        </p:scale>
        <p:origin x="756" y="51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715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715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21EA3D-72B0-4E3F-B30A-2887FB662B8A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23988"/>
            <a:ext cx="6784975" cy="384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80050"/>
            <a:ext cx="16084550" cy="4483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814050"/>
            <a:ext cx="8712200" cy="5715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814050"/>
            <a:ext cx="8712200" cy="5715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50F64-4A48-481B-A6AB-D109E304D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899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E50F64-4A48-481B-A6AB-D109E304D4D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0154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29520"/>
            <a:ext cx="17088486" cy="23909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00" b="1" i="0">
                <a:solidFill>
                  <a:schemeClr val="bg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75908"/>
            <a:ext cx="14072870" cy="28463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00" b="1" i="0">
                <a:solidFill>
                  <a:schemeClr val="bg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00" b="1" i="0">
                <a:solidFill>
                  <a:schemeClr val="bg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18676"/>
            <a:ext cx="8745284" cy="75144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18676"/>
            <a:ext cx="8745284" cy="75144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00" b="1" i="0">
                <a:solidFill>
                  <a:schemeClr val="bg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263" y="484"/>
            <a:ext cx="20103465" cy="1877060"/>
          </a:xfrm>
          <a:custGeom>
            <a:avLst/>
            <a:gdLst/>
            <a:ahLst/>
            <a:cxnLst/>
            <a:rect l="l" t="t" r="r" b="b"/>
            <a:pathLst>
              <a:path w="20103465" h="1877060">
                <a:moveTo>
                  <a:pt x="20103070" y="1876996"/>
                </a:moveTo>
                <a:lnTo>
                  <a:pt x="0" y="1876996"/>
                </a:lnTo>
                <a:lnTo>
                  <a:pt x="0" y="0"/>
                </a:lnTo>
                <a:lnTo>
                  <a:pt x="20103070" y="0"/>
                </a:lnTo>
                <a:lnTo>
                  <a:pt x="20103070" y="1876996"/>
                </a:lnTo>
                <a:close/>
              </a:path>
            </a:pathLst>
          </a:custGeom>
          <a:solidFill>
            <a:srgbClr val="6E298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56773" y="62514"/>
            <a:ext cx="17590135" cy="9563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00" b="1" i="0">
                <a:solidFill>
                  <a:schemeClr val="bg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18676"/>
            <a:ext cx="18093690" cy="75144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88562"/>
            <a:ext cx="6433312" cy="5692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88562"/>
            <a:ext cx="4623943" cy="5692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88562"/>
            <a:ext cx="4623943" cy="5692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jp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jp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72">
            <a:extLst>
              <a:ext uri="{FF2B5EF4-FFF2-40B4-BE49-F238E27FC236}">
                <a16:creationId xmlns:a16="http://schemas.microsoft.com/office/drawing/2014/main" id="{01FD989A-3CBB-3A5C-F195-756021EBD3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7196" y="5962260"/>
            <a:ext cx="2156086" cy="4169282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775384" y="777240"/>
            <a:ext cx="18610580" cy="648335"/>
            <a:chOff x="775384" y="1121093"/>
            <a:chExt cx="18610580" cy="648335"/>
          </a:xfrm>
        </p:grpSpPr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75384" y="1121093"/>
              <a:ext cx="1597314" cy="64832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7660321" y="1122158"/>
              <a:ext cx="1725279" cy="647171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0" y="944202"/>
            <a:ext cx="20104099" cy="792525"/>
          </a:xfrm>
          <a:prstGeom prst="rect">
            <a:avLst/>
          </a:prstGeom>
        </p:spPr>
        <p:txBody>
          <a:bodyPr vert="horz" wrap="square" lIns="0" tIns="19304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520"/>
              </a:spcBef>
            </a:pPr>
            <a:r>
              <a:rPr sz="2200" dirty="0">
                <a:solidFill>
                  <a:srgbClr val="FFFFFF"/>
                </a:solidFill>
                <a:latin typeface="Roboto"/>
                <a:cs typeface="Roboto"/>
              </a:rPr>
              <a:t>Hongrui</a:t>
            </a:r>
            <a:r>
              <a:rPr sz="2200" spc="-10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200" dirty="0">
                <a:solidFill>
                  <a:srgbClr val="FFFFFF"/>
                </a:solidFill>
                <a:latin typeface="Roboto"/>
                <a:cs typeface="Roboto"/>
              </a:rPr>
              <a:t>Liu</a:t>
            </a:r>
            <a:r>
              <a:rPr sz="1950" baseline="34188" dirty="0">
                <a:solidFill>
                  <a:srgbClr val="FFFFFF"/>
                </a:solidFill>
                <a:latin typeface="Roboto"/>
                <a:cs typeface="Roboto"/>
              </a:rPr>
              <a:t>1,2,4</a:t>
            </a:r>
            <a:r>
              <a:rPr sz="2200" dirty="0">
                <a:solidFill>
                  <a:srgbClr val="FFFFFF"/>
                </a:solidFill>
                <a:latin typeface="Roboto"/>
                <a:cs typeface="Roboto"/>
              </a:rPr>
              <a:t>,</a:t>
            </a:r>
            <a:r>
              <a:rPr sz="2200" spc="-10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200" dirty="0">
                <a:solidFill>
                  <a:srgbClr val="FFFFFF"/>
                </a:solidFill>
                <a:latin typeface="Roboto"/>
                <a:cs typeface="Roboto"/>
              </a:rPr>
              <a:t>Daniel</a:t>
            </a:r>
            <a:r>
              <a:rPr sz="2200" spc="-10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200" dirty="0">
                <a:solidFill>
                  <a:srgbClr val="FFFFFF"/>
                </a:solidFill>
                <a:latin typeface="Roboto"/>
                <a:cs typeface="Roboto"/>
              </a:rPr>
              <a:t>Felsky</a:t>
            </a:r>
            <a:r>
              <a:rPr sz="2200" spc="-10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200" spc="-10" dirty="0">
                <a:solidFill>
                  <a:srgbClr val="FFFFFF"/>
                </a:solidFill>
                <a:latin typeface="Roboto"/>
                <a:cs typeface="Roboto"/>
              </a:rPr>
              <a:t>PhD</a:t>
            </a:r>
            <a:r>
              <a:rPr sz="1950" spc="-15" baseline="34188" dirty="0">
                <a:solidFill>
                  <a:srgbClr val="FFFFFF"/>
                </a:solidFill>
                <a:latin typeface="Roboto"/>
                <a:cs typeface="Roboto"/>
              </a:rPr>
              <a:t>1,2,3,4</a:t>
            </a:r>
            <a:endParaRPr sz="1950" baseline="34188" dirty="0">
              <a:latin typeface="Roboto"/>
              <a:cs typeface="Roboto"/>
            </a:endParaRPr>
          </a:p>
          <a:p>
            <a:pPr algn="ctr">
              <a:lnSpc>
                <a:spcPct val="100000"/>
              </a:lnSpc>
              <a:spcBef>
                <a:spcPts val="715"/>
              </a:spcBef>
            </a:pPr>
            <a:r>
              <a:rPr sz="975" baseline="34188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Krembil</a:t>
            </a:r>
            <a:r>
              <a:rPr sz="1100" spc="-1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Centre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for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Neuroinformatics,</a:t>
            </a:r>
            <a:r>
              <a:rPr sz="1100" spc="-1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Centre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for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Addiction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and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Mental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Health,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975" spc="-15" baseline="34188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Institute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of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Medical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Science,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975" baseline="34188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Dalla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Lana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School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of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Public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Health,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975" spc="-15" baseline="34188" dirty="0">
                <a:solidFill>
                  <a:srgbClr val="FFFFFF"/>
                </a:solidFill>
                <a:latin typeface="Roboto"/>
                <a:cs typeface="Roboto"/>
              </a:rPr>
              <a:t>4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University </a:t>
            </a:r>
            <a:r>
              <a:rPr sz="1100" dirty="0">
                <a:solidFill>
                  <a:srgbClr val="FFFFFF"/>
                </a:solidFill>
                <a:latin typeface="Roboto"/>
                <a:cs typeface="Roboto"/>
              </a:rPr>
              <a:t>of</a:t>
            </a:r>
            <a:r>
              <a:rPr sz="1100" spc="-10" dirty="0">
                <a:solidFill>
                  <a:srgbClr val="FFFFFF"/>
                </a:solidFill>
                <a:latin typeface="Roboto"/>
                <a:cs typeface="Roboto"/>
              </a:rPr>
              <a:t> Toronto</a:t>
            </a:r>
            <a:endParaRPr sz="1100" dirty="0">
              <a:latin typeface="Roboto"/>
              <a:cs typeface="Robo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78884" y="2512654"/>
            <a:ext cx="3915552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2795270" marR="5080" indent="-2783205">
              <a:lnSpc>
                <a:spcPts val="1400"/>
              </a:lnSpc>
              <a:spcBef>
                <a:spcPts val="365"/>
              </a:spcBef>
            </a:pPr>
            <a:r>
              <a:rPr sz="1350" b="1" dirty="0">
                <a:latin typeface="Roboto"/>
                <a:cs typeface="Roboto"/>
              </a:rPr>
              <a:t>Table</a:t>
            </a:r>
            <a:r>
              <a:rPr sz="1350" b="1" spc="30" dirty="0">
                <a:latin typeface="Roboto"/>
                <a:cs typeface="Roboto"/>
              </a:rPr>
              <a:t> </a:t>
            </a:r>
            <a:r>
              <a:rPr sz="1350" b="1" dirty="0">
                <a:latin typeface="Roboto"/>
                <a:cs typeface="Roboto"/>
              </a:rPr>
              <a:t>1.</a:t>
            </a:r>
            <a:r>
              <a:rPr sz="1350" spc="35" dirty="0">
                <a:latin typeface="Roboto"/>
                <a:cs typeface="Roboto"/>
              </a:rPr>
              <a:t> </a:t>
            </a:r>
            <a:r>
              <a:rPr sz="1350" dirty="0">
                <a:latin typeface="Roboto"/>
                <a:cs typeface="Roboto"/>
              </a:rPr>
              <a:t>Demographic</a:t>
            </a:r>
            <a:r>
              <a:rPr lang="en-US" sz="1350" dirty="0">
                <a:latin typeface="Roboto"/>
                <a:cs typeface="Roboto"/>
              </a:rPr>
              <a:t> table of study samples.</a:t>
            </a:r>
            <a:endParaRPr sz="1350" dirty="0">
              <a:latin typeface="Roboto"/>
              <a:cs typeface="Roboto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746250" y="10125880"/>
            <a:ext cx="657225" cy="618490"/>
            <a:chOff x="7363059" y="2614939"/>
            <a:chExt cx="657225" cy="618490"/>
          </a:xfrm>
        </p:grpSpPr>
        <p:sp>
          <p:nvSpPr>
            <p:cNvPr id="20" name="object 20"/>
            <p:cNvSpPr/>
            <p:nvPr/>
          </p:nvSpPr>
          <p:spPr>
            <a:xfrm>
              <a:off x="7466010" y="2648279"/>
              <a:ext cx="76835" cy="135890"/>
            </a:xfrm>
            <a:custGeom>
              <a:avLst/>
              <a:gdLst/>
              <a:ahLst/>
              <a:cxnLst/>
              <a:rect l="l" t="t" r="r" b="b"/>
              <a:pathLst>
                <a:path w="76834" h="135889">
                  <a:moveTo>
                    <a:pt x="76355" y="0"/>
                  </a:moveTo>
                  <a:lnTo>
                    <a:pt x="0" y="0"/>
                  </a:lnTo>
                  <a:lnTo>
                    <a:pt x="0" y="135319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453871" y="2636155"/>
              <a:ext cx="100965" cy="160020"/>
            </a:xfrm>
            <a:custGeom>
              <a:avLst/>
              <a:gdLst/>
              <a:ahLst/>
              <a:cxnLst/>
              <a:rect l="l" t="t" r="r" b="b"/>
              <a:pathLst>
                <a:path w="100965" h="160019">
                  <a:moveTo>
                    <a:pt x="24269" y="140741"/>
                  </a:moveTo>
                  <a:lnTo>
                    <a:pt x="18834" y="135318"/>
                  </a:lnTo>
                  <a:lnTo>
                    <a:pt x="12128" y="135318"/>
                  </a:lnTo>
                  <a:lnTo>
                    <a:pt x="5435" y="135318"/>
                  </a:lnTo>
                  <a:lnTo>
                    <a:pt x="0" y="140741"/>
                  </a:lnTo>
                  <a:lnTo>
                    <a:pt x="0" y="154152"/>
                  </a:lnTo>
                  <a:lnTo>
                    <a:pt x="5435" y="159588"/>
                  </a:lnTo>
                  <a:lnTo>
                    <a:pt x="18834" y="159588"/>
                  </a:lnTo>
                  <a:lnTo>
                    <a:pt x="24269" y="154152"/>
                  </a:lnTo>
                  <a:lnTo>
                    <a:pt x="24269" y="140741"/>
                  </a:lnTo>
                  <a:close/>
                </a:path>
                <a:path w="100965" h="160019">
                  <a:moveTo>
                    <a:pt x="100622" y="5422"/>
                  </a:moveTo>
                  <a:lnTo>
                    <a:pt x="95186" y="0"/>
                  </a:lnTo>
                  <a:lnTo>
                    <a:pt x="81788" y="0"/>
                  </a:lnTo>
                  <a:lnTo>
                    <a:pt x="76352" y="5422"/>
                  </a:lnTo>
                  <a:lnTo>
                    <a:pt x="76352" y="12128"/>
                  </a:lnTo>
                  <a:lnTo>
                    <a:pt x="76352" y="18834"/>
                  </a:lnTo>
                  <a:lnTo>
                    <a:pt x="81788" y="24257"/>
                  </a:lnTo>
                  <a:lnTo>
                    <a:pt x="95186" y="24257"/>
                  </a:lnTo>
                  <a:lnTo>
                    <a:pt x="100622" y="18834"/>
                  </a:lnTo>
                  <a:lnTo>
                    <a:pt x="100622" y="5422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572754" y="2614939"/>
              <a:ext cx="239395" cy="66040"/>
            </a:xfrm>
            <a:custGeom>
              <a:avLst/>
              <a:gdLst/>
              <a:ahLst/>
              <a:cxnLst/>
              <a:rect l="l" t="t" r="r" b="b"/>
              <a:pathLst>
                <a:path w="239395" h="66039">
                  <a:moveTo>
                    <a:pt x="206383" y="65697"/>
                  </a:moveTo>
                  <a:lnTo>
                    <a:pt x="32848" y="65697"/>
                  </a:lnTo>
                  <a:lnTo>
                    <a:pt x="20062" y="63116"/>
                  </a:lnTo>
                  <a:lnTo>
                    <a:pt x="9621" y="56076"/>
                  </a:lnTo>
                  <a:lnTo>
                    <a:pt x="2581" y="45635"/>
                  </a:lnTo>
                  <a:lnTo>
                    <a:pt x="0" y="32848"/>
                  </a:lnTo>
                  <a:lnTo>
                    <a:pt x="2581" y="20062"/>
                  </a:lnTo>
                  <a:lnTo>
                    <a:pt x="9621" y="9621"/>
                  </a:lnTo>
                  <a:lnTo>
                    <a:pt x="20062" y="2581"/>
                  </a:lnTo>
                  <a:lnTo>
                    <a:pt x="32848" y="0"/>
                  </a:lnTo>
                  <a:lnTo>
                    <a:pt x="206383" y="0"/>
                  </a:lnTo>
                  <a:lnTo>
                    <a:pt x="219169" y="2581"/>
                  </a:lnTo>
                  <a:lnTo>
                    <a:pt x="229610" y="9621"/>
                  </a:lnTo>
                  <a:lnTo>
                    <a:pt x="236650" y="20062"/>
                  </a:lnTo>
                  <a:lnTo>
                    <a:pt x="239231" y="32848"/>
                  </a:lnTo>
                  <a:lnTo>
                    <a:pt x="236650" y="45635"/>
                  </a:lnTo>
                  <a:lnTo>
                    <a:pt x="229610" y="56076"/>
                  </a:lnTo>
                  <a:lnTo>
                    <a:pt x="219169" y="63116"/>
                  </a:lnTo>
                  <a:lnTo>
                    <a:pt x="206383" y="65697"/>
                  </a:lnTo>
                  <a:close/>
                </a:path>
              </a:pathLst>
            </a:custGeom>
            <a:solidFill>
              <a:srgbClr val="9269A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692367" y="2710245"/>
              <a:ext cx="0" cy="73660"/>
            </a:xfrm>
            <a:custGeom>
              <a:avLst/>
              <a:gdLst/>
              <a:ahLst/>
              <a:cxnLst/>
              <a:rect l="l" t="t" r="r" b="b"/>
              <a:pathLst>
                <a:path h="73660">
                  <a:moveTo>
                    <a:pt x="0" y="73240"/>
                  </a:moveTo>
                  <a:lnTo>
                    <a:pt x="0" y="0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680223" y="2698118"/>
              <a:ext cx="24765" cy="97790"/>
            </a:xfrm>
            <a:custGeom>
              <a:avLst/>
              <a:gdLst/>
              <a:ahLst/>
              <a:cxnLst/>
              <a:rect l="l" t="t" r="r" b="b"/>
              <a:pathLst>
                <a:path w="24765" h="97789">
                  <a:moveTo>
                    <a:pt x="24269" y="78676"/>
                  </a:moveTo>
                  <a:lnTo>
                    <a:pt x="18834" y="73240"/>
                  </a:lnTo>
                  <a:lnTo>
                    <a:pt x="12141" y="73240"/>
                  </a:lnTo>
                  <a:lnTo>
                    <a:pt x="5435" y="73240"/>
                  </a:lnTo>
                  <a:lnTo>
                    <a:pt x="0" y="78676"/>
                  </a:lnTo>
                  <a:lnTo>
                    <a:pt x="0" y="92075"/>
                  </a:lnTo>
                  <a:lnTo>
                    <a:pt x="5435" y="97510"/>
                  </a:lnTo>
                  <a:lnTo>
                    <a:pt x="18834" y="97510"/>
                  </a:lnTo>
                  <a:lnTo>
                    <a:pt x="24269" y="92075"/>
                  </a:lnTo>
                  <a:lnTo>
                    <a:pt x="24269" y="78676"/>
                  </a:lnTo>
                  <a:close/>
                </a:path>
                <a:path w="24765" h="97789">
                  <a:moveTo>
                    <a:pt x="24269" y="5435"/>
                  </a:moveTo>
                  <a:lnTo>
                    <a:pt x="18834" y="0"/>
                  </a:lnTo>
                  <a:lnTo>
                    <a:pt x="5435" y="0"/>
                  </a:lnTo>
                  <a:lnTo>
                    <a:pt x="0" y="5435"/>
                  </a:lnTo>
                  <a:lnTo>
                    <a:pt x="0" y="18834"/>
                  </a:lnTo>
                  <a:lnTo>
                    <a:pt x="5435" y="24269"/>
                  </a:lnTo>
                  <a:lnTo>
                    <a:pt x="12141" y="24269"/>
                  </a:lnTo>
                  <a:lnTo>
                    <a:pt x="18834" y="24269"/>
                  </a:lnTo>
                  <a:lnTo>
                    <a:pt x="24269" y="18834"/>
                  </a:lnTo>
                  <a:lnTo>
                    <a:pt x="24269" y="5435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429602" y="2912062"/>
              <a:ext cx="10795" cy="23495"/>
            </a:xfrm>
            <a:custGeom>
              <a:avLst/>
              <a:gdLst/>
              <a:ahLst/>
              <a:cxnLst/>
              <a:rect l="l" t="t" r="r" b="b"/>
              <a:pathLst>
                <a:path w="10795" h="23494">
                  <a:moveTo>
                    <a:pt x="10365" y="0"/>
                  </a:moveTo>
                  <a:lnTo>
                    <a:pt x="0" y="23486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415784" y="2898257"/>
              <a:ext cx="38100" cy="51435"/>
            </a:xfrm>
            <a:custGeom>
              <a:avLst/>
              <a:gdLst/>
              <a:ahLst/>
              <a:cxnLst/>
              <a:rect l="l" t="t" r="r" b="b"/>
              <a:pathLst>
                <a:path w="38100" h="51435">
                  <a:moveTo>
                    <a:pt x="27622" y="36068"/>
                  </a:moveTo>
                  <a:lnTo>
                    <a:pt x="24841" y="28905"/>
                  </a:lnTo>
                  <a:lnTo>
                    <a:pt x="18707" y="26200"/>
                  </a:lnTo>
                  <a:lnTo>
                    <a:pt x="12585" y="23495"/>
                  </a:lnTo>
                  <a:lnTo>
                    <a:pt x="5422" y="26263"/>
                  </a:lnTo>
                  <a:lnTo>
                    <a:pt x="0" y="38531"/>
                  </a:lnTo>
                  <a:lnTo>
                    <a:pt x="2781" y="45694"/>
                  </a:lnTo>
                  <a:lnTo>
                    <a:pt x="15049" y="51104"/>
                  </a:lnTo>
                  <a:lnTo>
                    <a:pt x="22212" y="48323"/>
                  </a:lnTo>
                  <a:lnTo>
                    <a:pt x="27622" y="36068"/>
                  </a:lnTo>
                  <a:close/>
                </a:path>
                <a:path w="38100" h="51435">
                  <a:moveTo>
                    <a:pt x="37985" y="12573"/>
                  </a:moveTo>
                  <a:lnTo>
                    <a:pt x="35204" y="5410"/>
                  </a:lnTo>
                  <a:lnTo>
                    <a:pt x="22948" y="0"/>
                  </a:lnTo>
                  <a:lnTo>
                    <a:pt x="15786" y="2781"/>
                  </a:lnTo>
                  <a:lnTo>
                    <a:pt x="10375" y="15036"/>
                  </a:lnTo>
                  <a:lnTo>
                    <a:pt x="13144" y="22199"/>
                  </a:lnTo>
                  <a:lnTo>
                    <a:pt x="19278" y="24917"/>
                  </a:lnTo>
                  <a:lnTo>
                    <a:pt x="25412" y="27622"/>
                  </a:lnTo>
                  <a:lnTo>
                    <a:pt x="32575" y="24841"/>
                  </a:lnTo>
                  <a:lnTo>
                    <a:pt x="37985" y="12573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363054" y="2813104"/>
              <a:ext cx="205104" cy="220979"/>
            </a:xfrm>
            <a:custGeom>
              <a:avLst/>
              <a:gdLst/>
              <a:ahLst/>
              <a:cxnLst/>
              <a:rect l="l" t="t" r="r" b="b"/>
              <a:pathLst>
                <a:path w="205104" h="220980">
                  <a:moveTo>
                    <a:pt x="75857" y="182549"/>
                  </a:moveTo>
                  <a:lnTo>
                    <a:pt x="72872" y="167792"/>
                  </a:lnTo>
                  <a:lnTo>
                    <a:pt x="64744" y="155740"/>
                  </a:lnTo>
                  <a:lnTo>
                    <a:pt x="52692" y="147612"/>
                  </a:lnTo>
                  <a:lnTo>
                    <a:pt x="37922" y="144627"/>
                  </a:lnTo>
                  <a:lnTo>
                    <a:pt x="23164" y="147612"/>
                  </a:lnTo>
                  <a:lnTo>
                    <a:pt x="11112" y="155740"/>
                  </a:lnTo>
                  <a:lnTo>
                    <a:pt x="2984" y="167792"/>
                  </a:lnTo>
                  <a:lnTo>
                    <a:pt x="0" y="182549"/>
                  </a:lnTo>
                  <a:lnTo>
                    <a:pt x="2984" y="197319"/>
                  </a:lnTo>
                  <a:lnTo>
                    <a:pt x="11112" y="209372"/>
                  </a:lnTo>
                  <a:lnTo>
                    <a:pt x="23164" y="217500"/>
                  </a:lnTo>
                  <a:lnTo>
                    <a:pt x="37922" y="220484"/>
                  </a:lnTo>
                  <a:lnTo>
                    <a:pt x="52692" y="217500"/>
                  </a:lnTo>
                  <a:lnTo>
                    <a:pt x="64744" y="209372"/>
                  </a:lnTo>
                  <a:lnTo>
                    <a:pt x="72872" y="197319"/>
                  </a:lnTo>
                  <a:lnTo>
                    <a:pt x="75857" y="182549"/>
                  </a:lnTo>
                  <a:close/>
                </a:path>
                <a:path w="205104" h="220980">
                  <a:moveTo>
                    <a:pt x="140042" y="37922"/>
                  </a:moveTo>
                  <a:lnTo>
                    <a:pt x="137058" y="23164"/>
                  </a:lnTo>
                  <a:lnTo>
                    <a:pt x="128930" y="11112"/>
                  </a:lnTo>
                  <a:lnTo>
                    <a:pt x="116878" y="2984"/>
                  </a:lnTo>
                  <a:lnTo>
                    <a:pt x="102108" y="0"/>
                  </a:lnTo>
                  <a:lnTo>
                    <a:pt x="87350" y="2984"/>
                  </a:lnTo>
                  <a:lnTo>
                    <a:pt x="75298" y="11112"/>
                  </a:lnTo>
                  <a:lnTo>
                    <a:pt x="67170" y="23164"/>
                  </a:lnTo>
                  <a:lnTo>
                    <a:pt x="64185" y="37922"/>
                  </a:lnTo>
                  <a:lnTo>
                    <a:pt x="67170" y="52692"/>
                  </a:lnTo>
                  <a:lnTo>
                    <a:pt x="75298" y="64744"/>
                  </a:lnTo>
                  <a:lnTo>
                    <a:pt x="87350" y="72872"/>
                  </a:lnTo>
                  <a:lnTo>
                    <a:pt x="102108" y="75857"/>
                  </a:lnTo>
                  <a:lnTo>
                    <a:pt x="116878" y="72872"/>
                  </a:lnTo>
                  <a:lnTo>
                    <a:pt x="128930" y="64744"/>
                  </a:lnTo>
                  <a:lnTo>
                    <a:pt x="137058" y="52692"/>
                  </a:lnTo>
                  <a:lnTo>
                    <a:pt x="140042" y="37922"/>
                  </a:lnTo>
                  <a:close/>
                </a:path>
                <a:path w="205104" h="220980">
                  <a:moveTo>
                    <a:pt x="204889" y="182549"/>
                  </a:moveTo>
                  <a:lnTo>
                    <a:pt x="201904" y="167792"/>
                  </a:lnTo>
                  <a:lnTo>
                    <a:pt x="193776" y="155727"/>
                  </a:lnTo>
                  <a:lnTo>
                    <a:pt x="181724" y="147599"/>
                  </a:lnTo>
                  <a:lnTo>
                    <a:pt x="166954" y="144627"/>
                  </a:lnTo>
                  <a:lnTo>
                    <a:pt x="152196" y="147599"/>
                  </a:lnTo>
                  <a:lnTo>
                    <a:pt x="140131" y="155727"/>
                  </a:lnTo>
                  <a:lnTo>
                    <a:pt x="132003" y="167792"/>
                  </a:lnTo>
                  <a:lnTo>
                    <a:pt x="129032" y="182549"/>
                  </a:lnTo>
                  <a:lnTo>
                    <a:pt x="132003" y="197319"/>
                  </a:lnTo>
                  <a:lnTo>
                    <a:pt x="140131" y="209372"/>
                  </a:lnTo>
                  <a:lnTo>
                    <a:pt x="152196" y="217500"/>
                  </a:lnTo>
                  <a:lnTo>
                    <a:pt x="166954" y="220484"/>
                  </a:lnTo>
                  <a:lnTo>
                    <a:pt x="181724" y="217500"/>
                  </a:lnTo>
                  <a:lnTo>
                    <a:pt x="193776" y="209372"/>
                  </a:lnTo>
                  <a:lnTo>
                    <a:pt x="201904" y="197319"/>
                  </a:lnTo>
                  <a:lnTo>
                    <a:pt x="204889" y="182549"/>
                  </a:lnTo>
                  <a:close/>
                </a:path>
              </a:pathLst>
            </a:custGeom>
            <a:solidFill>
              <a:srgbClr val="9269A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492175" y="2912062"/>
              <a:ext cx="10795" cy="23495"/>
            </a:xfrm>
            <a:custGeom>
              <a:avLst/>
              <a:gdLst/>
              <a:ahLst/>
              <a:cxnLst/>
              <a:rect l="l" t="t" r="r" b="b"/>
              <a:pathLst>
                <a:path w="10795" h="23494">
                  <a:moveTo>
                    <a:pt x="0" y="0"/>
                  </a:moveTo>
                  <a:lnTo>
                    <a:pt x="10365" y="23486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478357" y="2898257"/>
              <a:ext cx="38100" cy="51435"/>
            </a:xfrm>
            <a:custGeom>
              <a:avLst/>
              <a:gdLst/>
              <a:ahLst/>
              <a:cxnLst/>
              <a:rect l="l" t="t" r="r" b="b"/>
              <a:pathLst>
                <a:path w="38100" h="51435">
                  <a:moveTo>
                    <a:pt x="27622" y="15036"/>
                  </a:moveTo>
                  <a:lnTo>
                    <a:pt x="22212" y="2781"/>
                  </a:lnTo>
                  <a:lnTo>
                    <a:pt x="15049" y="0"/>
                  </a:lnTo>
                  <a:lnTo>
                    <a:pt x="2781" y="5410"/>
                  </a:lnTo>
                  <a:lnTo>
                    <a:pt x="0" y="12573"/>
                  </a:lnTo>
                  <a:lnTo>
                    <a:pt x="5422" y="24841"/>
                  </a:lnTo>
                  <a:lnTo>
                    <a:pt x="12585" y="27622"/>
                  </a:lnTo>
                  <a:lnTo>
                    <a:pt x="18707" y="24917"/>
                  </a:lnTo>
                  <a:lnTo>
                    <a:pt x="24841" y="22199"/>
                  </a:lnTo>
                  <a:lnTo>
                    <a:pt x="27622" y="15036"/>
                  </a:lnTo>
                  <a:close/>
                </a:path>
                <a:path w="38100" h="51435">
                  <a:moveTo>
                    <a:pt x="37985" y="38531"/>
                  </a:moveTo>
                  <a:lnTo>
                    <a:pt x="32575" y="26263"/>
                  </a:lnTo>
                  <a:lnTo>
                    <a:pt x="25412" y="23495"/>
                  </a:lnTo>
                  <a:lnTo>
                    <a:pt x="19278" y="26200"/>
                  </a:lnTo>
                  <a:lnTo>
                    <a:pt x="13144" y="28905"/>
                  </a:lnTo>
                  <a:lnTo>
                    <a:pt x="10375" y="36068"/>
                  </a:lnTo>
                  <a:lnTo>
                    <a:pt x="15786" y="48323"/>
                  </a:lnTo>
                  <a:lnTo>
                    <a:pt x="22948" y="51104"/>
                  </a:lnTo>
                  <a:lnTo>
                    <a:pt x="35204" y="45694"/>
                  </a:lnTo>
                  <a:lnTo>
                    <a:pt x="37985" y="38531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656394" y="2912065"/>
              <a:ext cx="10795" cy="23495"/>
            </a:xfrm>
            <a:custGeom>
              <a:avLst/>
              <a:gdLst/>
              <a:ahLst/>
              <a:cxnLst/>
              <a:rect l="l" t="t" r="r" b="b"/>
              <a:pathLst>
                <a:path w="10795" h="23494">
                  <a:moveTo>
                    <a:pt x="10365" y="0"/>
                  </a:moveTo>
                  <a:lnTo>
                    <a:pt x="0" y="23486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642581" y="2898270"/>
              <a:ext cx="38100" cy="51435"/>
            </a:xfrm>
            <a:custGeom>
              <a:avLst/>
              <a:gdLst/>
              <a:ahLst/>
              <a:cxnLst/>
              <a:rect l="l" t="t" r="r" b="b"/>
              <a:pathLst>
                <a:path w="38100" h="51435">
                  <a:moveTo>
                    <a:pt x="27609" y="36055"/>
                  </a:moveTo>
                  <a:lnTo>
                    <a:pt x="24841" y="28892"/>
                  </a:lnTo>
                  <a:lnTo>
                    <a:pt x="18707" y="26187"/>
                  </a:lnTo>
                  <a:lnTo>
                    <a:pt x="12573" y="23482"/>
                  </a:lnTo>
                  <a:lnTo>
                    <a:pt x="5410" y="26250"/>
                  </a:lnTo>
                  <a:lnTo>
                    <a:pt x="0" y="38519"/>
                  </a:lnTo>
                  <a:lnTo>
                    <a:pt x="2781" y="45681"/>
                  </a:lnTo>
                  <a:lnTo>
                    <a:pt x="15036" y="51092"/>
                  </a:lnTo>
                  <a:lnTo>
                    <a:pt x="22199" y="48323"/>
                  </a:lnTo>
                  <a:lnTo>
                    <a:pt x="27609" y="36055"/>
                  </a:lnTo>
                  <a:close/>
                </a:path>
                <a:path w="38100" h="51435">
                  <a:moveTo>
                    <a:pt x="37973" y="12573"/>
                  </a:moveTo>
                  <a:lnTo>
                    <a:pt x="35204" y="5410"/>
                  </a:lnTo>
                  <a:lnTo>
                    <a:pt x="22936" y="0"/>
                  </a:lnTo>
                  <a:lnTo>
                    <a:pt x="15773" y="2768"/>
                  </a:lnTo>
                  <a:lnTo>
                    <a:pt x="10363" y="15036"/>
                  </a:lnTo>
                  <a:lnTo>
                    <a:pt x="13144" y="22199"/>
                  </a:lnTo>
                  <a:lnTo>
                    <a:pt x="19278" y="24904"/>
                  </a:lnTo>
                  <a:lnTo>
                    <a:pt x="25400" y="27609"/>
                  </a:lnTo>
                  <a:lnTo>
                    <a:pt x="32562" y="24828"/>
                  </a:lnTo>
                  <a:lnTo>
                    <a:pt x="37973" y="12573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589850" y="2813104"/>
              <a:ext cx="205104" cy="220979"/>
            </a:xfrm>
            <a:custGeom>
              <a:avLst/>
              <a:gdLst/>
              <a:ahLst/>
              <a:cxnLst/>
              <a:rect l="l" t="t" r="r" b="b"/>
              <a:pathLst>
                <a:path w="205104" h="220980">
                  <a:moveTo>
                    <a:pt x="75844" y="182562"/>
                  </a:moveTo>
                  <a:lnTo>
                    <a:pt x="72872" y="167792"/>
                  </a:lnTo>
                  <a:lnTo>
                    <a:pt x="64744" y="155740"/>
                  </a:lnTo>
                  <a:lnTo>
                    <a:pt x="52679" y="147612"/>
                  </a:lnTo>
                  <a:lnTo>
                    <a:pt x="37922" y="144627"/>
                  </a:lnTo>
                  <a:lnTo>
                    <a:pt x="23164" y="147612"/>
                  </a:lnTo>
                  <a:lnTo>
                    <a:pt x="11099" y="155740"/>
                  </a:lnTo>
                  <a:lnTo>
                    <a:pt x="2971" y="167792"/>
                  </a:lnTo>
                  <a:lnTo>
                    <a:pt x="0" y="182562"/>
                  </a:lnTo>
                  <a:lnTo>
                    <a:pt x="2971" y="197319"/>
                  </a:lnTo>
                  <a:lnTo>
                    <a:pt x="11099" y="209372"/>
                  </a:lnTo>
                  <a:lnTo>
                    <a:pt x="23164" y="217512"/>
                  </a:lnTo>
                  <a:lnTo>
                    <a:pt x="37922" y="220484"/>
                  </a:lnTo>
                  <a:lnTo>
                    <a:pt x="52679" y="217512"/>
                  </a:lnTo>
                  <a:lnTo>
                    <a:pt x="64744" y="209372"/>
                  </a:lnTo>
                  <a:lnTo>
                    <a:pt x="72872" y="197319"/>
                  </a:lnTo>
                  <a:lnTo>
                    <a:pt x="75844" y="182562"/>
                  </a:lnTo>
                  <a:close/>
                </a:path>
                <a:path w="205104" h="220980">
                  <a:moveTo>
                    <a:pt x="140030" y="37934"/>
                  </a:moveTo>
                  <a:lnTo>
                    <a:pt x="137058" y="23164"/>
                  </a:lnTo>
                  <a:lnTo>
                    <a:pt x="128930" y="11112"/>
                  </a:lnTo>
                  <a:lnTo>
                    <a:pt x="116865" y="2984"/>
                  </a:lnTo>
                  <a:lnTo>
                    <a:pt x="102108" y="0"/>
                  </a:lnTo>
                  <a:lnTo>
                    <a:pt x="87337" y="2984"/>
                  </a:lnTo>
                  <a:lnTo>
                    <a:pt x="75285" y="11112"/>
                  </a:lnTo>
                  <a:lnTo>
                    <a:pt x="67157" y="23164"/>
                  </a:lnTo>
                  <a:lnTo>
                    <a:pt x="64173" y="37934"/>
                  </a:lnTo>
                  <a:lnTo>
                    <a:pt x="67157" y="52692"/>
                  </a:lnTo>
                  <a:lnTo>
                    <a:pt x="75285" y="64744"/>
                  </a:lnTo>
                  <a:lnTo>
                    <a:pt x="87337" y="72872"/>
                  </a:lnTo>
                  <a:lnTo>
                    <a:pt x="102108" y="75857"/>
                  </a:lnTo>
                  <a:lnTo>
                    <a:pt x="116865" y="72872"/>
                  </a:lnTo>
                  <a:lnTo>
                    <a:pt x="128930" y="64744"/>
                  </a:lnTo>
                  <a:lnTo>
                    <a:pt x="137058" y="52692"/>
                  </a:lnTo>
                  <a:lnTo>
                    <a:pt x="140030" y="37934"/>
                  </a:lnTo>
                  <a:close/>
                </a:path>
                <a:path w="205104" h="220980">
                  <a:moveTo>
                    <a:pt x="204876" y="182549"/>
                  </a:moveTo>
                  <a:lnTo>
                    <a:pt x="201904" y="167792"/>
                  </a:lnTo>
                  <a:lnTo>
                    <a:pt x="193776" y="155740"/>
                  </a:lnTo>
                  <a:lnTo>
                    <a:pt x="181711" y="147612"/>
                  </a:lnTo>
                  <a:lnTo>
                    <a:pt x="166954" y="144627"/>
                  </a:lnTo>
                  <a:lnTo>
                    <a:pt x="152184" y="147612"/>
                  </a:lnTo>
                  <a:lnTo>
                    <a:pt x="140131" y="155740"/>
                  </a:lnTo>
                  <a:lnTo>
                    <a:pt x="132003" y="167792"/>
                  </a:lnTo>
                  <a:lnTo>
                    <a:pt x="129019" y="182549"/>
                  </a:lnTo>
                  <a:lnTo>
                    <a:pt x="132003" y="197319"/>
                  </a:lnTo>
                  <a:lnTo>
                    <a:pt x="140131" y="209372"/>
                  </a:lnTo>
                  <a:lnTo>
                    <a:pt x="152184" y="217500"/>
                  </a:lnTo>
                  <a:lnTo>
                    <a:pt x="166954" y="220484"/>
                  </a:lnTo>
                  <a:lnTo>
                    <a:pt x="181711" y="217500"/>
                  </a:lnTo>
                  <a:lnTo>
                    <a:pt x="193776" y="209372"/>
                  </a:lnTo>
                  <a:lnTo>
                    <a:pt x="201904" y="197319"/>
                  </a:lnTo>
                  <a:lnTo>
                    <a:pt x="204876" y="182549"/>
                  </a:lnTo>
                  <a:close/>
                </a:path>
              </a:pathLst>
            </a:custGeom>
            <a:solidFill>
              <a:srgbClr val="9269A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718966" y="2912065"/>
              <a:ext cx="10795" cy="23495"/>
            </a:xfrm>
            <a:custGeom>
              <a:avLst/>
              <a:gdLst/>
              <a:ahLst/>
              <a:cxnLst/>
              <a:rect l="l" t="t" r="r" b="b"/>
              <a:pathLst>
                <a:path w="10795" h="23494">
                  <a:moveTo>
                    <a:pt x="0" y="0"/>
                  </a:moveTo>
                  <a:lnTo>
                    <a:pt x="10365" y="23486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705153" y="2898270"/>
              <a:ext cx="38100" cy="51435"/>
            </a:xfrm>
            <a:custGeom>
              <a:avLst/>
              <a:gdLst/>
              <a:ahLst/>
              <a:cxnLst/>
              <a:rect l="l" t="t" r="r" b="b"/>
              <a:pathLst>
                <a:path w="38100" h="51435">
                  <a:moveTo>
                    <a:pt x="27609" y="15036"/>
                  </a:moveTo>
                  <a:lnTo>
                    <a:pt x="22199" y="2768"/>
                  </a:lnTo>
                  <a:lnTo>
                    <a:pt x="15036" y="0"/>
                  </a:lnTo>
                  <a:lnTo>
                    <a:pt x="2781" y="5410"/>
                  </a:lnTo>
                  <a:lnTo>
                    <a:pt x="0" y="12573"/>
                  </a:lnTo>
                  <a:lnTo>
                    <a:pt x="5410" y="24828"/>
                  </a:lnTo>
                  <a:lnTo>
                    <a:pt x="12573" y="27609"/>
                  </a:lnTo>
                  <a:lnTo>
                    <a:pt x="18707" y="24904"/>
                  </a:lnTo>
                  <a:lnTo>
                    <a:pt x="24841" y="22199"/>
                  </a:lnTo>
                  <a:lnTo>
                    <a:pt x="27609" y="15036"/>
                  </a:lnTo>
                  <a:close/>
                </a:path>
                <a:path w="38100" h="51435">
                  <a:moveTo>
                    <a:pt x="37973" y="38519"/>
                  </a:moveTo>
                  <a:lnTo>
                    <a:pt x="32562" y="26250"/>
                  </a:lnTo>
                  <a:lnTo>
                    <a:pt x="25400" y="23482"/>
                  </a:lnTo>
                  <a:lnTo>
                    <a:pt x="19278" y="26187"/>
                  </a:lnTo>
                  <a:lnTo>
                    <a:pt x="13144" y="28892"/>
                  </a:lnTo>
                  <a:lnTo>
                    <a:pt x="10363" y="36055"/>
                  </a:lnTo>
                  <a:lnTo>
                    <a:pt x="15773" y="48323"/>
                  </a:lnTo>
                  <a:lnTo>
                    <a:pt x="22936" y="51092"/>
                  </a:lnTo>
                  <a:lnTo>
                    <a:pt x="35204" y="45681"/>
                  </a:lnTo>
                  <a:lnTo>
                    <a:pt x="37973" y="38519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7840866" y="2648280"/>
              <a:ext cx="76835" cy="135890"/>
            </a:xfrm>
            <a:custGeom>
              <a:avLst/>
              <a:gdLst/>
              <a:ahLst/>
              <a:cxnLst/>
              <a:rect l="l" t="t" r="r" b="b"/>
              <a:pathLst>
                <a:path w="76834" h="135889">
                  <a:moveTo>
                    <a:pt x="0" y="0"/>
                  </a:moveTo>
                  <a:lnTo>
                    <a:pt x="76355" y="0"/>
                  </a:lnTo>
                  <a:lnTo>
                    <a:pt x="76355" y="135319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7828724" y="2636155"/>
              <a:ext cx="100965" cy="160020"/>
            </a:xfrm>
            <a:custGeom>
              <a:avLst/>
              <a:gdLst/>
              <a:ahLst/>
              <a:cxnLst/>
              <a:rect l="l" t="t" r="r" b="b"/>
              <a:pathLst>
                <a:path w="100965" h="160019">
                  <a:moveTo>
                    <a:pt x="24269" y="5422"/>
                  </a:moveTo>
                  <a:lnTo>
                    <a:pt x="18834" y="0"/>
                  </a:lnTo>
                  <a:lnTo>
                    <a:pt x="5435" y="0"/>
                  </a:lnTo>
                  <a:lnTo>
                    <a:pt x="0" y="5422"/>
                  </a:lnTo>
                  <a:lnTo>
                    <a:pt x="0" y="18834"/>
                  </a:lnTo>
                  <a:lnTo>
                    <a:pt x="5435" y="24269"/>
                  </a:lnTo>
                  <a:lnTo>
                    <a:pt x="18834" y="24269"/>
                  </a:lnTo>
                  <a:lnTo>
                    <a:pt x="24269" y="18834"/>
                  </a:lnTo>
                  <a:lnTo>
                    <a:pt x="24269" y="12128"/>
                  </a:lnTo>
                  <a:lnTo>
                    <a:pt x="24269" y="5422"/>
                  </a:lnTo>
                  <a:close/>
                </a:path>
                <a:path w="100965" h="160019">
                  <a:moveTo>
                    <a:pt x="100622" y="140754"/>
                  </a:moveTo>
                  <a:lnTo>
                    <a:pt x="95199" y="135318"/>
                  </a:lnTo>
                  <a:lnTo>
                    <a:pt x="88493" y="135318"/>
                  </a:lnTo>
                  <a:lnTo>
                    <a:pt x="81788" y="135318"/>
                  </a:lnTo>
                  <a:lnTo>
                    <a:pt x="76352" y="140754"/>
                  </a:lnTo>
                  <a:lnTo>
                    <a:pt x="76352" y="154152"/>
                  </a:lnTo>
                  <a:lnTo>
                    <a:pt x="81788" y="159588"/>
                  </a:lnTo>
                  <a:lnTo>
                    <a:pt x="95199" y="159588"/>
                  </a:lnTo>
                  <a:lnTo>
                    <a:pt x="100622" y="154152"/>
                  </a:lnTo>
                  <a:lnTo>
                    <a:pt x="100622" y="140754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943263" y="2912062"/>
              <a:ext cx="10795" cy="23495"/>
            </a:xfrm>
            <a:custGeom>
              <a:avLst/>
              <a:gdLst/>
              <a:ahLst/>
              <a:cxnLst/>
              <a:rect l="l" t="t" r="r" b="b"/>
              <a:pathLst>
                <a:path w="10795" h="23494">
                  <a:moveTo>
                    <a:pt x="0" y="0"/>
                  </a:moveTo>
                  <a:lnTo>
                    <a:pt x="10365" y="23486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7929448" y="2898257"/>
              <a:ext cx="38100" cy="51435"/>
            </a:xfrm>
            <a:custGeom>
              <a:avLst/>
              <a:gdLst/>
              <a:ahLst/>
              <a:cxnLst/>
              <a:rect l="l" t="t" r="r" b="b"/>
              <a:pathLst>
                <a:path w="38100" h="51435">
                  <a:moveTo>
                    <a:pt x="27622" y="15036"/>
                  </a:moveTo>
                  <a:lnTo>
                    <a:pt x="22199" y="2781"/>
                  </a:lnTo>
                  <a:lnTo>
                    <a:pt x="15036" y="0"/>
                  </a:lnTo>
                  <a:lnTo>
                    <a:pt x="2781" y="5410"/>
                  </a:lnTo>
                  <a:lnTo>
                    <a:pt x="0" y="12573"/>
                  </a:lnTo>
                  <a:lnTo>
                    <a:pt x="5410" y="24841"/>
                  </a:lnTo>
                  <a:lnTo>
                    <a:pt x="12573" y="27622"/>
                  </a:lnTo>
                  <a:lnTo>
                    <a:pt x="18707" y="24917"/>
                  </a:lnTo>
                  <a:lnTo>
                    <a:pt x="24841" y="22212"/>
                  </a:lnTo>
                  <a:lnTo>
                    <a:pt x="27622" y="15036"/>
                  </a:lnTo>
                  <a:close/>
                </a:path>
                <a:path w="38100" h="51435">
                  <a:moveTo>
                    <a:pt x="37985" y="38531"/>
                  </a:moveTo>
                  <a:lnTo>
                    <a:pt x="32575" y="26263"/>
                  </a:lnTo>
                  <a:lnTo>
                    <a:pt x="25412" y="23495"/>
                  </a:lnTo>
                  <a:lnTo>
                    <a:pt x="19278" y="26200"/>
                  </a:lnTo>
                  <a:lnTo>
                    <a:pt x="13144" y="28905"/>
                  </a:lnTo>
                  <a:lnTo>
                    <a:pt x="10363" y="36068"/>
                  </a:lnTo>
                  <a:lnTo>
                    <a:pt x="15786" y="48323"/>
                  </a:lnTo>
                  <a:lnTo>
                    <a:pt x="22948" y="51104"/>
                  </a:lnTo>
                  <a:lnTo>
                    <a:pt x="35204" y="45694"/>
                  </a:lnTo>
                  <a:lnTo>
                    <a:pt x="37985" y="38531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815275" y="2813104"/>
              <a:ext cx="205104" cy="220979"/>
            </a:xfrm>
            <a:custGeom>
              <a:avLst/>
              <a:gdLst/>
              <a:ahLst/>
              <a:cxnLst/>
              <a:rect l="l" t="t" r="r" b="b"/>
              <a:pathLst>
                <a:path w="205104" h="220980">
                  <a:moveTo>
                    <a:pt x="75857" y="182549"/>
                  </a:moveTo>
                  <a:lnTo>
                    <a:pt x="72885" y="167792"/>
                  </a:lnTo>
                  <a:lnTo>
                    <a:pt x="64757" y="155727"/>
                  </a:lnTo>
                  <a:lnTo>
                    <a:pt x="52692" y="147599"/>
                  </a:lnTo>
                  <a:lnTo>
                    <a:pt x="37934" y="144627"/>
                  </a:lnTo>
                  <a:lnTo>
                    <a:pt x="23164" y="147599"/>
                  </a:lnTo>
                  <a:lnTo>
                    <a:pt x="11112" y="155727"/>
                  </a:lnTo>
                  <a:lnTo>
                    <a:pt x="2984" y="167792"/>
                  </a:lnTo>
                  <a:lnTo>
                    <a:pt x="0" y="182549"/>
                  </a:lnTo>
                  <a:lnTo>
                    <a:pt x="2984" y="197319"/>
                  </a:lnTo>
                  <a:lnTo>
                    <a:pt x="11112" y="209372"/>
                  </a:lnTo>
                  <a:lnTo>
                    <a:pt x="23164" y="217500"/>
                  </a:lnTo>
                  <a:lnTo>
                    <a:pt x="37934" y="220484"/>
                  </a:lnTo>
                  <a:lnTo>
                    <a:pt x="52692" y="217500"/>
                  </a:lnTo>
                  <a:lnTo>
                    <a:pt x="64757" y="209372"/>
                  </a:lnTo>
                  <a:lnTo>
                    <a:pt x="72885" y="197319"/>
                  </a:lnTo>
                  <a:lnTo>
                    <a:pt x="75857" y="182549"/>
                  </a:lnTo>
                  <a:close/>
                </a:path>
                <a:path w="205104" h="220980">
                  <a:moveTo>
                    <a:pt x="140703" y="37922"/>
                  </a:moveTo>
                  <a:lnTo>
                    <a:pt x="137731" y="23164"/>
                  </a:lnTo>
                  <a:lnTo>
                    <a:pt x="129603" y="11112"/>
                  </a:lnTo>
                  <a:lnTo>
                    <a:pt x="117538" y="2984"/>
                  </a:lnTo>
                  <a:lnTo>
                    <a:pt x="102781" y="0"/>
                  </a:lnTo>
                  <a:lnTo>
                    <a:pt x="88011" y="2984"/>
                  </a:lnTo>
                  <a:lnTo>
                    <a:pt x="75958" y="11112"/>
                  </a:lnTo>
                  <a:lnTo>
                    <a:pt x="67830" y="23164"/>
                  </a:lnTo>
                  <a:lnTo>
                    <a:pt x="64846" y="37922"/>
                  </a:lnTo>
                  <a:lnTo>
                    <a:pt x="67830" y="52692"/>
                  </a:lnTo>
                  <a:lnTo>
                    <a:pt x="75958" y="64744"/>
                  </a:lnTo>
                  <a:lnTo>
                    <a:pt x="88011" y="72872"/>
                  </a:lnTo>
                  <a:lnTo>
                    <a:pt x="102781" y="75857"/>
                  </a:lnTo>
                  <a:lnTo>
                    <a:pt x="117538" y="72872"/>
                  </a:lnTo>
                  <a:lnTo>
                    <a:pt x="129603" y="64744"/>
                  </a:lnTo>
                  <a:lnTo>
                    <a:pt x="137731" y="52692"/>
                  </a:lnTo>
                  <a:lnTo>
                    <a:pt x="140703" y="37922"/>
                  </a:lnTo>
                  <a:close/>
                </a:path>
                <a:path w="205104" h="220980">
                  <a:moveTo>
                    <a:pt x="204889" y="182562"/>
                  </a:moveTo>
                  <a:lnTo>
                    <a:pt x="201917" y="167792"/>
                  </a:lnTo>
                  <a:lnTo>
                    <a:pt x="193776" y="155740"/>
                  </a:lnTo>
                  <a:lnTo>
                    <a:pt x="181724" y="147612"/>
                  </a:lnTo>
                  <a:lnTo>
                    <a:pt x="166966" y="144627"/>
                  </a:lnTo>
                  <a:lnTo>
                    <a:pt x="152196" y="147612"/>
                  </a:lnTo>
                  <a:lnTo>
                    <a:pt x="140144" y="155740"/>
                  </a:lnTo>
                  <a:lnTo>
                    <a:pt x="132016" y="167792"/>
                  </a:lnTo>
                  <a:lnTo>
                    <a:pt x="129032" y="182562"/>
                  </a:lnTo>
                  <a:lnTo>
                    <a:pt x="132016" y="197319"/>
                  </a:lnTo>
                  <a:lnTo>
                    <a:pt x="140144" y="209372"/>
                  </a:lnTo>
                  <a:lnTo>
                    <a:pt x="152196" y="217500"/>
                  </a:lnTo>
                  <a:lnTo>
                    <a:pt x="166966" y="220484"/>
                  </a:lnTo>
                  <a:lnTo>
                    <a:pt x="181724" y="217500"/>
                  </a:lnTo>
                  <a:lnTo>
                    <a:pt x="193776" y="209372"/>
                  </a:lnTo>
                  <a:lnTo>
                    <a:pt x="201917" y="197319"/>
                  </a:lnTo>
                  <a:lnTo>
                    <a:pt x="204889" y="182562"/>
                  </a:lnTo>
                  <a:close/>
                </a:path>
              </a:pathLst>
            </a:custGeom>
            <a:solidFill>
              <a:srgbClr val="9269A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880691" y="2912062"/>
              <a:ext cx="10795" cy="23495"/>
            </a:xfrm>
            <a:custGeom>
              <a:avLst/>
              <a:gdLst/>
              <a:ahLst/>
              <a:cxnLst/>
              <a:rect l="l" t="t" r="r" b="b"/>
              <a:pathLst>
                <a:path w="10795" h="23494">
                  <a:moveTo>
                    <a:pt x="10365" y="0"/>
                  </a:moveTo>
                  <a:lnTo>
                    <a:pt x="0" y="23486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866875" y="2898257"/>
              <a:ext cx="38100" cy="51435"/>
            </a:xfrm>
            <a:custGeom>
              <a:avLst/>
              <a:gdLst/>
              <a:ahLst/>
              <a:cxnLst/>
              <a:rect l="l" t="t" r="r" b="b"/>
              <a:pathLst>
                <a:path w="38100" h="51435">
                  <a:moveTo>
                    <a:pt x="27622" y="36068"/>
                  </a:moveTo>
                  <a:lnTo>
                    <a:pt x="24841" y="28905"/>
                  </a:lnTo>
                  <a:lnTo>
                    <a:pt x="18707" y="26200"/>
                  </a:lnTo>
                  <a:lnTo>
                    <a:pt x="12573" y="23495"/>
                  </a:lnTo>
                  <a:lnTo>
                    <a:pt x="5410" y="26263"/>
                  </a:lnTo>
                  <a:lnTo>
                    <a:pt x="0" y="38531"/>
                  </a:lnTo>
                  <a:lnTo>
                    <a:pt x="2781" y="45694"/>
                  </a:lnTo>
                  <a:lnTo>
                    <a:pt x="15036" y="51104"/>
                  </a:lnTo>
                  <a:lnTo>
                    <a:pt x="22199" y="48323"/>
                  </a:lnTo>
                  <a:lnTo>
                    <a:pt x="27622" y="36068"/>
                  </a:lnTo>
                  <a:close/>
                </a:path>
                <a:path w="38100" h="51435">
                  <a:moveTo>
                    <a:pt x="37985" y="12573"/>
                  </a:moveTo>
                  <a:lnTo>
                    <a:pt x="35204" y="5410"/>
                  </a:lnTo>
                  <a:lnTo>
                    <a:pt x="22948" y="0"/>
                  </a:lnTo>
                  <a:lnTo>
                    <a:pt x="15786" y="2781"/>
                  </a:lnTo>
                  <a:lnTo>
                    <a:pt x="10363" y="15036"/>
                  </a:lnTo>
                  <a:lnTo>
                    <a:pt x="13144" y="22212"/>
                  </a:lnTo>
                  <a:lnTo>
                    <a:pt x="19278" y="24917"/>
                  </a:lnTo>
                  <a:lnTo>
                    <a:pt x="25412" y="27622"/>
                  </a:lnTo>
                  <a:lnTo>
                    <a:pt x="32575" y="24841"/>
                  </a:lnTo>
                  <a:lnTo>
                    <a:pt x="37985" y="12573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466314" y="3064330"/>
              <a:ext cx="76835" cy="135890"/>
            </a:xfrm>
            <a:custGeom>
              <a:avLst/>
              <a:gdLst/>
              <a:ahLst/>
              <a:cxnLst/>
              <a:rect l="l" t="t" r="r" b="b"/>
              <a:pathLst>
                <a:path w="76834" h="135889">
                  <a:moveTo>
                    <a:pt x="76355" y="135319"/>
                  </a:moveTo>
                  <a:lnTo>
                    <a:pt x="0" y="135319"/>
                  </a:lnTo>
                  <a:lnTo>
                    <a:pt x="0" y="0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7454176" y="3052207"/>
              <a:ext cx="100965" cy="160020"/>
            </a:xfrm>
            <a:custGeom>
              <a:avLst/>
              <a:gdLst/>
              <a:ahLst/>
              <a:cxnLst/>
              <a:rect l="l" t="t" r="r" b="b"/>
              <a:pathLst>
                <a:path w="100965" h="160019">
                  <a:moveTo>
                    <a:pt x="24269" y="5435"/>
                  </a:moveTo>
                  <a:lnTo>
                    <a:pt x="18834" y="0"/>
                  </a:lnTo>
                  <a:lnTo>
                    <a:pt x="5435" y="0"/>
                  </a:lnTo>
                  <a:lnTo>
                    <a:pt x="0" y="5435"/>
                  </a:lnTo>
                  <a:lnTo>
                    <a:pt x="0" y="18834"/>
                  </a:lnTo>
                  <a:lnTo>
                    <a:pt x="5435" y="24269"/>
                  </a:lnTo>
                  <a:lnTo>
                    <a:pt x="12128" y="24269"/>
                  </a:lnTo>
                  <a:lnTo>
                    <a:pt x="18834" y="24269"/>
                  </a:lnTo>
                  <a:lnTo>
                    <a:pt x="24269" y="18834"/>
                  </a:lnTo>
                  <a:lnTo>
                    <a:pt x="24269" y="5435"/>
                  </a:lnTo>
                  <a:close/>
                </a:path>
                <a:path w="100965" h="160019">
                  <a:moveTo>
                    <a:pt x="100622" y="140754"/>
                  </a:moveTo>
                  <a:lnTo>
                    <a:pt x="95186" y="135318"/>
                  </a:lnTo>
                  <a:lnTo>
                    <a:pt x="81788" y="135318"/>
                  </a:lnTo>
                  <a:lnTo>
                    <a:pt x="76352" y="140754"/>
                  </a:lnTo>
                  <a:lnTo>
                    <a:pt x="76352" y="147447"/>
                  </a:lnTo>
                  <a:lnTo>
                    <a:pt x="76352" y="154152"/>
                  </a:lnTo>
                  <a:lnTo>
                    <a:pt x="81788" y="159588"/>
                  </a:lnTo>
                  <a:lnTo>
                    <a:pt x="95186" y="159588"/>
                  </a:lnTo>
                  <a:lnTo>
                    <a:pt x="100622" y="154152"/>
                  </a:lnTo>
                  <a:lnTo>
                    <a:pt x="100622" y="140754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7573058" y="3167292"/>
              <a:ext cx="239395" cy="66040"/>
            </a:xfrm>
            <a:custGeom>
              <a:avLst/>
              <a:gdLst/>
              <a:ahLst/>
              <a:cxnLst/>
              <a:rect l="l" t="t" r="r" b="b"/>
              <a:pathLst>
                <a:path w="239395" h="66039">
                  <a:moveTo>
                    <a:pt x="32848" y="0"/>
                  </a:moveTo>
                  <a:lnTo>
                    <a:pt x="206383" y="0"/>
                  </a:lnTo>
                  <a:lnTo>
                    <a:pt x="219169" y="2581"/>
                  </a:lnTo>
                  <a:lnTo>
                    <a:pt x="229610" y="9621"/>
                  </a:lnTo>
                  <a:lnTo>
                    <a:pt x="236650" y="20062"/>
                  </a:lnTo>
                  <a:lnTo>
                    <a:pt x="239231" y="32848"/>
                  </a:lnTo>
                  <a:lnTo>
                    <a:pt x="236650" y="45635"/>
                  </a:lnTo>
                  <a:lnTo>
                    <a:pt x="229610" y="56076"/>
                  </a:lnTo>
                  <a:lnTo>
                    <a:pt x="219169" y="63116"/>
                  </a:lnTo>
                  <a:lnTo>
                    <a:pt x="206383" y="65697"/>
                  </a:lnTo>
                  <a:lnTo>
                    <a:pt x="32848" y="65697"/>
                  </a:lnTo>
                  <a:lnTo>
                    <a:pt x="20062" y="63116"/>
                  </a:lnTo>
                  <a:lnTo>
                    <a:pt x="9621" y="56076"/>
                  </a:lnTo>
                  <a:lnTo>
                    <a:pt x="2581" y="45635"/>
                  </a:lnTo>
                  <a:lnTo>
                    <a:pt x="0" y="32848"/>
                  </a:lnTo>
                  <a:lnTo>
                    <a:pt x="2581" y="20062"/>
                  </a:lnTo>
                  <a:lnTo>
                    <a:pt x="9621" y="9621"/>
                  </a:lnTo>
                  <a:lnTo>
                    <a:pt x="20062" y="2581"/>
                  </a:lnTo>
                  <a:lnTo>
                    <a:pt x="32848" y="0"/>
                  </a:lnTo>
                  <a:close/>
                </a:path>
              </a:pathLst>
            </a:custGeom>
            <a:solidFill>
              <a:srgbClr val="9269A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7692671" y="3064444"/>
              <a:ext cx="0" cy="73660"/>
            </a:xfrm>
            <a:custGeom>
              <a:avLst/>
              <a:gdLst/>
              <a:ahLst/>
              <a:cxnLst/>
              <a:rect l="l" t="t" r="r" b="b"/>
              <a:pathLst>
                <a:path h="73660">
                  <a:moveTo>
                    <a:pt x="0" y="0"/>
                  </a:moveTo>
                  <a:lnTo>
                    <a:pt x="0" y="73240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680528" y="3052321"/>
              <a:ext cx="24765" cy="97790"/>
            </a:xfrm>
            <a:custGeom>
              <a:avLst/>
              <a:gdLst/>
              <a:ahLst/>
              <a:cxnLst/>
              <a:rect l="l" t="t" r="r" b="b"/>
              <a:pathLst>
                <a:path w="24765" h="97789">
                  <a:moveTo>
                    <a:pt x="24269" y="78663"/>
                  </a:moveTo>
                  <a:lnTo>
                    <a:pt x="18834" y="73228"/>
                  </a:lnTo>
                  <a:lnTo>
                    <a:pt x="12141" y="73228"/>
                  </a:lnTo>
                  <a:lnTo>
                    <a:pt x="5435" y="73228"/>
                  </a:lnTo>
                  <a:lnTo>
                    <a:pt x="0" y="78663"/>
                  </a:lnTo>
                  <a:lnTo>
                    <a:pt x="0" y="92075"/>
                  </a:lnTo>
                  <a:lnTo>
                    <a:pt x="5435" y="97497"/>
                  </a:lnTo>
                  <a:lnTo>
                    <a:pt x="18834" y="97497"/>
                  </a:lnTo>
                  <a:lnTo>
                    <a:pt x="24269" y="92075"/>
                  </a:lnTo>
                  <a:lnTo>
                    <a:pt x="24269" y="78663"/>
                  </a:lnTo>
                  <a:close/>
                </a:path>
                <a:path w="24765" h="97789">
                  <a:moveTo>
                    <a:pt x="24269" y="5422"/>
                  </a:moveTo>
                  <a:lnTo>
                    <a:pt x="18834" y="0"/>
                  </a:lnTo>
                  <a:lnTo>
                    <a:pt x="5435" y="0"/>
                  </a:lnTo>
                  <a:lnTo>
                    <a:pt x="0" y="5422"/>
                  </a:lnTo>
                  <a:lnTo>
                    <a:pt x="0" y="18834"/>
                  </a:lnTo>
                  <a:lnTo>
                    <a:pt x="5435" y="24257"/>
                  </a:lnTo>
                  <a:lnTo>
                    <a:pt x="12141" y="24257"/>
                  </a:lnTo>
                  <a:lnTo>
                    <a:pt x="18834" y="24257"/>
                  </a:lnTo>
                  <a:lnTo>
                    <a:pt x="24269" y="18834"/>
                  </a:lnTo>
                  <a:lnTo>
                    <a:pt x="24269" y="5422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841170" y="3064329"/>
              <a:ext cx="76835" cy="135890"/>
            </a:xfrm>
            <a:custGeom>
              <a:avLst/>
              <a:gdLst/>
              <a:ahLst/>
              <a:cxnLst/>
              <a:rect l="l" t="t" r="r" b="b"/>
              <a:pathLst>
                <a:path w="76834" h="135889">
                  <a:moveTo>
                    <a:pt x="0" y="135319"/>
                  </a:moveTo>
                  <a:lnTo>
                    <a:pt x="76355" y="135319"/>
                  </a:lnTo>
                  <a:lnTo>
                    <a:pt x="76355" y="0"/>
                  </a:lnTo>
                </a:path>
              </a:pathLst>
            </a:custGeom>
            <a:ln w="24267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829029" y="3052207"/>
              <a:ext cx="100965" cy="160020"/>
            </a:xfrm>
            <a:custGeom>
              <a:avLst/>
              <a:gdLst/>
              <a:ahLst/>
              <a:cxnLst/>
              <a:rect l="l" t="t" r="r" b="b"/>
              <a:pathLst>
                <a:path w="100965" h="160019">
                  <a:moveTo>
                    <a:pt x="24269" y="140754"/>
                  </a:moveTo>
                  <a:lnTo>
                    <a:pt x="18834" y="135318"/>
                  </a:lnTo>
                  <a:lnTo>
                    <a:pt x="5435" y="135318"/>
                  </a:lnTo>
                  <a:lnTo>
                    <a:pt x="0" y="140754"/>
                  </a:lnTo>
                  <a:lnTo>
                    <a:pt x="0" y="154152"/>
                  </a:lnTo>
                  <a:lnTo>
                    <a:pt x="5435" y="159588"/>
                  </a:lnTo>
                  <a:lnTo>
                    <a:pt x="18834" y="159588"/>
                  </a:lnTo>
                  <a:lnTo>
                    <a:pt x="24269" y="154152"/>
                  </a:lnTo>
                  <a:lnTo>
                    <a:pt x="24269" y="147447"/>
                  </a:lnTo>
                  <a:lnTo>
                    <a:pt x="24269" y="140754"/>
                  </a:lnTo>
                  <a:close/>
                </a:path>
                <a:path w="100965" h="160019">
                  <a:moveTo>
                    <a:pt x="100622" y="5422"/>
                  </a:moveTo>
                  <a:lnTo>
                    <a:pt x="95186" y="0"/>
                  </a:lnTo>
                  <a:lnTo>
                    <a:pt x="81788" y="0"/>
                  </a:lnTo>
                  <a:lnTo>
                    <a:pt x="76352" y="5422"/>
                  </a:lnTo>
                  <a:lnTo>
                    <a:pt x="76352" y="18834"/>
                  </a:lnTo>
                  <a:lnTo>
                    <a:pt x="81788" y="24269"/>
                  </a:lnTo>
                  <a:lnTo>
                    <a:pt x="88493" y="24269"/>
                  </a:lnTo>
                  <a:lnTo>
                    <a:pt x="95186" y="24269"/>
                  </a:lnTo>
                  <a:lnTo>
                    <a:pt x="100622" y="18834"/>
                  </a:lnTo>
                  <a:lnTo>
                    <a:pt x="100622" y="5422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51" name="object 5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32" y="10120382"/>
            <a:ext cx="693518" cy="692111"/>
          </a:xfrm>
          <a:prstGeom prst="rect">
            <a:avLst/>
          </a:prstGeom>
        </p:spPr>
      </p:pic>
      <p:grpSp>
        <p:nvGrpSpPr>
          <p:cNvPr id="78" name="object 78"/>
          <p:cNvGrpSpPr/>
          <p:nvPr/>
        </p:nvGrpSpPr>
        <p:grpSpPr>
          <a:xfrm>
            <a:off x="5099050" y="10115382"/>
            <a:ext cx="663742" cy="638304"/>
            <a:chOff x="9988770" y="3998480"/>
            <a:chExt cx="894715" cy="860425"/>
          </a:xfrm>
        </p:grpSpPr>
        <p:sp>
          <p:nvSpPr>
            <p:cNvPr id="79" name="object 79"/>
            <p:cNvSpPr/>
            <p:nvPr/>
          </p:nvSpPr>
          <p:spPr>
            <a:xfrm>
              <a:off x="10068924" y="4155707"/>
              <a:ext cx="723265" cy="607695"/>
            </a:xfrm>
            <a:custGeom>
              <a:avLst/>
              <a:gdLst/>
              <a:ahLst/>
              <a:cxnLst/>
              <a:rect l="l" t="t" r="r" b="b"/>
              <a:pathLst>
                <a:path w="723265" h="607695">
                  <a:moveTo>
                    <a:pt x="722835" y="0"/>
                  </a:moveTo>
                  <a:lnTo>
                    <a:pt x="0" y="607536"/>
                  </a:lnTo>
                </a:path>
              </a:pathLst>
            </a:custGeom>
            <a:ln w="34734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10049446" y="4093048"/>
              <a:ext cx="817244" cy="690245"/>
            </a:xfrm>
            <a:custGeom>
              <a:avLst/>
              <a:gdLst/>
              <a:ahLst/>
              <a:cxnLst/>
              <a:rect l="l" t="t" r="r" b="b"/>
              <a:pathLst>
                <a:path w="817245" h="690245">
                  <a:moveTo>
                    <a:pt x="38938" y="666369"/>
                  </a:moveTo>
                  <a:lnTo>
                    <a:pt x="32766" y="659028"/>
                  </a:lnTo>
                  <a:lnTo>
                    <a:pt x="26593" y="651687"/>
                  </a:lnTo>
                  <a:lnTo>
                    <a:pt x="15646" y="650735"/>
                  </a:lnTo>
                  <a:lnTo>
                    <a:pt x="952" y="663079"/>
                  </a:lnTo>
                  <a:lnTo>
                    <a:pt x="0" y="674027"/>
                  </a:lnTo>
                  <a:lnTo>
                    <a:pt x="12344" y="688721"/>
                  </a:lnTo>
                  <a:lnTo>
                    <a:pt x="23304" y="689673"/>
                  </a:lnTo>
                  <a:lnTo>
                    <a:pt x="37985" y="677329"/>
                  </a:lnTo>
                  <a:lnTo>
                    <a:pt x="38938" y="666369"/>
                  </a:lnTo>
                  <a:close/>
                </a:path>
                <a:path w="817245" h="690245">
                  <a:moveTo>
                    <a:pt x="816864" y="0"/>
                  </a:moveTo>
                  <a:lnTo>
                    <a:pt x="684695" y="31686"/>
                  </a:lnTo>
                  <a:lnTo>
                    <a:pt x="762914" y="124752"/>
                  </a:lnTo>
                  <a:lnTo>
                    <a:pt x="816864" y="0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10001795" y="4011505"/>
              <a:ext cx="868680" cy="834390"/>
            </a:xfrm>
            <a:custGeom>
              <a:avLst/>
              <a:gdLst/>
              <a:ahLst/>
              <a:cxnLst/>
              <a:rect l="l" t="t" r="r" b="b"/>
              <a:pathLst>
                <a:path w="868679" h="834389">
                  <a:moveTo>
                    <a:pt x="0" y="0"/>
                  </a:moveTo>
                  <a:lnTo>
                    <a:pt x="0" y="834166"/>
                  </a:lnTo>
                  <a:lnTo>
                    <a:pt x="868352" y="834166"/>
                  </a:lnTo>
                </a:path>
              </a:pathLst>
            </a:custGeom>
            <a:ln w="26050">
              <a:solidFill>
                <a:srgbClr val="36617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9988766" y="3998484"/>
              <a:ext cx="894715" cy="860425"/>
            </a:xfrm>
            <a:custGeom>
              <a:avLst/>
              <a:gdLst/>
              <a:ahLst/>
              <a:cxnLst/>
              <a:rect l="l" t="t" r="r" b="b"/>
              <a:pathLst>
                <a:path w="894715" h="860425">
                  <a:moveTo>
                    <a:pt x="26047" y="5829"/>
                  </a:moveTo>
                  <a:lnTo>
                    <a:pt x="20218" y="0"/>
                  </a:lnTo>
                  <a:lnTo>
                    <a:pt x="5829" y="0"/>
                  </a:lnTo>
                  <a:lnTo>
                    <a:pt x="0" y="5829"/>
                  </a:lnTo>
                  <a:lnTo>
                    <a:pt x="0" y="20218"/>
                  </a:lnTo>
                  <a:lnTo>
                    <a:pt x="5829" y="26047"/>
                  </a:lnTo>
                  <a:lnTo>
                    <a:pt x="13017" y="26047"/>
                  </a:lnTo>
                  <a:lnTo>
                    <a:pt x="20218" y="26047"/>
                  </a:lnTo>
                  <a:lnTo>
                    <a:pt x="26047" y="20218"/>
                  </a:lnTo>
                  <a:lnTo>
                    <a:pt x="26047" y="5829"/>
                  </a:lnTo>
                  <a:close/>
                </a:path>
                <a:path w="894715" h="860425">
                  <a:moveTo>
                    <a:pt x="894397" y="840003"/>
                  </a:moveTo>
                  <a:lnTo>
                    <a:pt x="888568" y="834174"/>
                  </a:lnTo>
                  <a:lnTo>
                    <a:pt x="874179" y="834174"/>
                  </a:lnTo>
                  <a:lnTo>
                    <a:pt x="868349" y="840003"/>
                  </a:lnTo>
                  <a:lnTo>
                    <a:pt x="868349" y="847191"/>
                  </a:lnTo>
                  <a:lnTo>
                    <a:pt x="868349" y="854392"/>
                  </a:lnTo>
                  <a:lnTo>
                    <a:pt x="874179" y="860221"/>
                  </a:lnTo>
                  <a:lnTo>
                    <a:pt x="888568" y="860221"/>
                  </a:lnTo>
                  <a:lnTo>
                    <a:pt x="894397" y="854392"/>
                  </a:lnTo>
                  <a:lnTo>
                    <a:pt x="894397" y="840003"/>
                  </a:lnTo>
                  <a:close/>
                </a:path>
              </a:pathLst>
            </a:custGeom>
            <a:solidFill>
              <a:srgbClr val="36617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3" name="object 8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157559" y="4389197"/>
              <a:ext cx="71205" cy="71205"/>
            </a:xfrm>
            <a:prstGeom prst="rect">
              <a:avLst/>
            </a:prstGeom>
          </p:spPr>
        </p:pic>
        <p:pic>
          <p:nvPicPr>
            <p:cNvPr id="84" name="object 8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328078" y="4389197"/>
              <a:ext cx="71205" cy="71205"/>
            </a:xfrm>
            <a:prstGeom prst="rect">
              <a:avLst/>
            </a:prstGeom>
          </p:spPr>
        </p:pic>
        <p:pic>
          <p:nvPicPr>
            <p:cNvPr id="85" name="object 8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416653" y="4264353"/>
              <a:ext cx="71205" cy="71205"/>
            </a:xfrm>
            <a:prstGeom prst="rect">
              <a:avLst/>
            </a:prstGeom>
          </p:spPr>
        </p:pic>
        <p:pic>
          <p:nvPicPr>
            <p:cNvPr id="86" name="object 8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089619" y="4558165"/>
              <a:ext cx="71205" cy="71205"/>
            </a:xfrm>
            <a:prstGeom prst="rect">
              <a:avLst/>
            </a:prstGeom>
          </p:spPr>
        </p:pic>
        <p:pic>
          <p:nvPicPr>
            <p:cNvPr id="87" name="object 8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449025" y="4122269"/>
              <a:ext cx="71205" cy="71205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605472" y="4143674"/>
              <a:ext cx="71205" cy="71205"/>
            </a:xfrm>
            <a:prstGeom prst="rect">
              <a:avLst/>
            </a:prstGeom>
          </p:spPr>
        </p:pic>
        <p:pic>
          <p:nvPicPr>
            <p:cNvPr id="89" name="object 8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639069" y="4010878"/>
              <a:ext cx="71205" cy="71205"/>
            </a:xfrm>
            <a:prstGeom prst="rect">
              <a:avLst/>
            </a:prstGeom>
          </p:spPr>
        </p:pic>
        <p:sp>
          <p:nvSpPr>
            <p:cNvPr id="90" name="object 90"/>
            <p:cNvSpPr/>
            <p:nvPr/>
          </p:nvSpPr>
          <p:spPr>
            <a:xfrm>
              <a:off x="10662217" y="4323678"/>
              <a:ext cx="71755" cy="71755"/>
            </a:xfrm>
            <a:custGeom>
              <a:avLst/>
              <a:gdLst/>
              <a:ahLst/>
              <a:cxnLst/>
              <a:rect l="l" t="t" r="r" b="b"/>
              <a:pathLst>
                <a:path w="71754" h="71754">
                  <a:moveTo>
                    <a:pt x="35602" y="71205"/>
                  </a:moveTo>
                  <a:lnTo>
                    <a:pt x="21744" y="68407"/>
                  </a:lnTo>
                  <a:lnTo>
                    <a:pt x="10427" y="60777"/>
                  </a:lnTo>
                  <a:lnTo>
                    <a:pt x="2797" y="49460"/>
                  </a:lnTo>
                  <a:lnTo>
                    <a:pt x="0" y="35602"/>
                  </a:lnTo>
                  <a:lnTo>
                    <a:pt x="2797" y="21744"/>
                  </a:lnTo>
                  <a:lnTo>
                    <a:pt x="10427" y="10427"/>
                  </a:lnTo>
                  <a:lnTo>
                    <a:pt x="21744" y="2797"/>
                  </a:lnTo>
                  <a:lnTo>
                    <a:pt x="35602" y="0"/>
                  </a:lnTo>
                  <a:lnTo>
                    <a:pt x="49460" y="2797"/>
                  </a:lnTo>
                  <a:lnTo>
                    <a:pt x="60777" y="10427"/>
                  </a:lnTo>
                  <a:lnTo>
                    <a:pt x="68407" y="21744"/>
                  </a:lnTo>
                  <a:lnTo>
                    <a:pt x="71205" y="35602"/>
                  </a:lnTo>
                  <a:lnTo>
                    <a:pt x="68407" y="49460"/>
                  </a:lnTo>
                  <a:lnTo>
                    <a:pt x="60777" y="60777"/>
                  </a:lnTo>
                  <a:lnTo>
                    <a:pt x="49460" y="68407"/>
                  </a:lnTo>
                  <a:lnTo>
                    <a:pt x="35602" y="71205"/>
                  </a:lnTo>
                  <a:close/>
                </a:path>
              </a:pathLst>
            </a:custGeom>
            <a:solidFill>
              <a:srgbClr val="9269A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1" name="object 9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0798998" y="4286395"/>
              <a:ext cx="71205" cy="71205"/>
            </a:xfrm>
            <a:prstGeom prst="rect">
              <a:avLst/>
            </a:prstGeom>
          </p:spPr>
        </p:pic>
        <p:sp>
          <p:nvSpPr>
            <p:cNvPr id="92" name="object 92"/>
            <p:cNvSpPr/>
            <p:nvPr/>
          </p:nvSpPr>
          <p:spPr>
            <a:xfrm>
              <a:off x="10750785" y="4412253"/>
              <a:ext cx="71755" cy="71755"/>
            </a:xfrm>
            <a:custGeom>
              <a:avLst/>
              <a:gdLst/>
              <a:ahLst/>
              <a:cxnLst/>
              <a:rect l="l" t="t" r="r" b="b"/>
              <a:pathLst>
                <a:path w="71754" h="71754">
                  <a:moveTo>
                    <a:pt x="35602" y="71205"/>
                  </a:moveTo>
                  <a:lnTo>
                    <a:pt x="21744" y="68407"/>
                  </a:lnTo>
                  <a:lnTo>
                    <a:pt x="10427" y="60777"/>
                  </a:lnTo>
                  <a:lnTo>
                    <a:pt x="2797" y="49460"/>
                  </a:lnTo>
                  <a:lnTo>
                    <a:pt x="0" y="35602"/>
                  </a:lnTo>
                  <a:lnTo>
                    <a:pt x="2797" y="21744"/>
                  </a:lnTo>
                  <a:lnTo>
                    <a:pt x="10427" y="10427"/>
                  </a:lnTo>
                  <a:lnTo>
                    <a:pt x="21744" y="2797"/>
                  </a:lnTo>
                  <a:lnTo>
                    <a:pt x="35602" y="0"/>
                  </a:lnTo>
                  <a:lnTo>
                    <a:pt x="49460" y="2797"/>
                  </a:lnTo>
                  <a:lnTo>
                    <a:pt x="60777" y="10427"/>
                  </a:lnTo>
                  <a:lnTo>
                    <a:pt x="68407" y="21744"/>
                  </a:lnTo>
                  <a:lnTo>
                    <a:pt x="71205" y="35602"/>
                  </a:lnTo>
                  <a:lnTo>
                    <a:pt x="68407" y="49460"/>
                  </a:lnTo>
                  <a:lnTo>
                    <a:pt x="60777" y="60777"/>
                  </a:lnTo>
                  <a:lnTo>
                    <a:pt x="49460" y="68407"/>
                  </a:lnTo>
                  <a:lnTo>
                    <a:pt x="35602" y="71205"/>
                  </a:lnTo>
                  <a:close/>
                </a:path>
              </a:pathLst>
            </a:custGeom>
            <a:solidFill>
              <a:srgbClr val="9269A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3" name="object 9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397428" y="4557288"/>
              <a:ext cx="71205" cy="71205"/>
            </a:xfrm>
            <a:prstGeom prst="rect">
              <a:avLst/>
            </a:prstGeom>
          </p:spPr>
        </p:pic>
        <p:pic>
          <p:nvPicPr>
            <p:cNvPr id="94" name="object 9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288728" y="4704274"/>
              <a:ext cx="71205" cy="71205"/>
            </a:xfrm>
            <a:prstGeom prst="rect">
              <a:avLst/>
            </a:prstGeom>
          </p:spPr>
        </p:pic>
        <p:pic>
          <p:nvPicPr>
            <p:cNvPr id="95" name="object 9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272190" y="4208311"/>
              <a:ext cx="71205" cy="71205"/>
            </a:xfrm>
            <a:prstGeom prst="rect">
              <a:avLst/>
            </a:prstGeom>
          </p:spPr>
        </p:pic>
        <p:pic>
          <p:nvPicPr>
            <p:cNvPr id="96" name="object 9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545048" y="4597136"/>
              <a:ext cx="71205" cy="71205"/>
            </a:xfrm>
            <a:prstGeom prst="rect">
              <a:avLst/>
            </a:prstGeom>
          </p:spPr>
        </p:pic>
      </p:grpSp>
      <p:pic>
        <p:nvPicPr>
          <p:cNvPr id="97" name="object 97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84736" y="10382770"/>
            <a:ext cx="609114" cy="57675"/>
          </a:xfrm>
          <a:prstGeom prst="rect">
            <a:avLst/>
          </a:prstGeom>
        </p:spPr>
      </p:pic>
      <p:pic>
        <p:nvPicPr>
          <p:cNvPr id="115" name="object 11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5029292" y="1977636"/>
            <a:ext cx="4571695" cy="2712489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1023300" y="12779"/>
            <a:ext cx="177917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300" b="1" dirty="0">
                <a:solidFill>
                  <a:schemeClr val="bg1"/>
                </a:solidFill>
                <a:latin typeface="Roboto"/>
              </a:rPr>
              <a:t>ML-LAMP: Machine-learning-derived Lifestyle-Associated Microbiome Profiles for Gut-brain Association Testing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5374" y="2358636"/>
            <a:ext cx="6349076" cy="2929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1145" marR="5080" indent="-259079" algn="l">
              <a:lnSpc>
                <a:spcPts val="1850"/>
              </a:lnSpc>
              <a:spcBef>
                <a:spcPts val="465"/>
              </a:spcBef>
              <a:spcAft>
                <a:spcPts val="600"/>
              </a:spcAft>
              <a:buSzPct val="78378"/>
              <a:buFont typeface="Times New Roman"/>
              <a:buChar char="●"/>
              <a:tabLst>
                <a:tab pos="271145" algn="l"/>
              </a:tabLst>
            </a:pPr>
            <a:r>
              <a:rPr lang="en-US" sz="1850" dirty="0">
                <a:latin typeface="Roboto"/>
                <a:cs typeface="Roboto"/>
              </a:rPr>
              <a:t>Prior</a:t>
            </a:r>
            <a:r>
              <a:rPr lang="en-US" sz="1850" spc="-65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research</a:t>
            </a:r>
            <a:r>
              <a:rPr lang="en-US" sz="1850" spc="-65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links</a:t>
            </a:r>
            <a:r>
              <a:rPr lang="en-US" sz="1850" spc="-65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the</a:t>
            </a:r>
            <a:r>
              <a:rPr lang="en-US" sz="1850" spc="-65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gut</a:t>
            </a:r>
            <a:r>
              <a:rPr lang="en-US" sz="1850" spc="-65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microbiome</a:t>
            </a:r>
            <a:r>
              <a:rPr lang="en-US" sz="1850" spc="-65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to</a:t>
            </a:r>
            <a:r>
              <a:rPr lang="en-US" sz="1850" spc="-65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cognition, </a:t>
            </a:r>
            <a:r>
              <a:rPr lang="en-US" sz="1850" dirty="0">
                <a:latin typeface="Roboto"/>
                <a:cs typeface="Roboto"/>
              </a:rPr>
              <a:t>but existing studies are hindered by small sample sizes.</a:t>
            </a:r>
            <a:endParaRPr lang="en-US" sz="1850" spc="-10" dirty="0">
              <a:latin typeface="Roboto"/>
              <a:cs typeface="Roboto"/>
            </a:endParaRPr>
          </a:p>
          <a:p>
            <a:pPr marL="271145" marR="5080" indent="-259079" algn="l">
              <a:lnSpc>
                <a:spcPts val="1850"/>
              </a:lnSpc>
              <a:spcBef>
                <a:spcPts val="465"/>
              </a:spcBef>
              <a:spcAft>
                <a:spcPts val="600"/>
              </a:spcAft>
              <a:buSzPct val="78378"/>
              <a:buFont typeface="Times New Roman"/>
              <a:buChar char="●"/>
              <a:tabLst>
                <a:tab pos="271145" algn="l"/>
              </a:tabLst>
            </a:pPr>
            <a:r>
              <a:rPr lang="en-US" sz="1850" dirty="0">
                <a:latin typeface="Roboto"/>
                <a:cs typeface="Roboto"/>
              </a:rPr>
              <a:t>This limits opportunities for understanding the </a:t>
            </a:r>
            <a:r>
              <a:rPr lang="en-US" sz="1850" b="1" dirty="0">
                <a:latin typeface="Roboto"/>
                <a:cs typeface="Roboto"/>
              </a:rPr>
              <a:t>role of gut bacteria in brain health</a:t>
            </a:r>
            <a:r>
              <a:rPr lang="en-US" sz="1850" dirty="0">
                <a:latin typeface="Roboto"/>
                <a:cs typeface="Roboto"/>
              </a:rPr>
              <a:t> – knowledge that could lead to novel interventions for improving cognitive aging.</a:t>
            </a:r>
          </a:p>
          <a:p>
            <a:pPr marL="271145" marR="5080" indent="-259079" algn="l">
              <a:lnSpc>
                <a:spcPts val="1850"/>
              </a:lnSpc>
              <a:spcBef>
                <a:spcPts val="465"/>
              </a:spcBef>
              <a:spcAft>
                <a:spcPts val="600"/>
              </a:spcAft>
              <a:buSzPct val="78378"/>
              <a:buFont typeface="Times New Roman"/>
              <a:buChar char="●"/>
              <a:tabLst>
                <a:tab pos="271145" algn="l"/>
              </a:tabLst>
            </a:pPr>
            <a:r>
              <a:rPr lang="en-US" sz="1850" dirty="0">
                <a:latin typeface="Roboto"/>
                <a:cs typeface="Roboto"/>
              </a:rPr>
              <a:t>Using two independent datasets, we</a:t>
            </a:r>
            <a:r>
              <a:rPr lang="en-US" sz="1850" spc="-30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developed</a:t>
            </a:r>
            <a:r>
              <a:rPr lang="en-US" sz="1850" spc="-25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a</a:t>
            </a:r>
            <a:r>
              <a:rPr lang="en-US" sz="1850" spc="-25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machine</a:t>
            </a:r>
            <a:r>
              <a:rPr lang="en-US" sz="1850" spc="-25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learning framework</a:t>
            </a:r>
            <a:r>
              <a:rPr lang="en-US" sz="1850" spc="-65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that</a:t>
            </a:r>
            <a:r>
              <a:rPr lang="en-US" sz="1850" spc="-60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models</a:t>
            </a:r>
            <a:r>
              <a:rPr lang="en-US" sz="1850" spc="-60" dirty="0">
                <a:latin typeface="Roboto"/>
                <a:cs typeface="Roboto"/>
              </a:rPr>
              <a:t> </a:t>
            </a:r>
            <a:r>
              <a:rPr lang="en-US" sz="1850" b="1" dirty="0">
                <a:latin typeface="Roboto"/>
                <a:cs typeface="Roboto"/>
              </a:rPr>
              <a:t>latent</a:t>
            </a:r>
            <a:r>
              <a:rPr lang="en-US" sz="1850" b="1" spc="-60" dirty="0">
                <a:latin typeface="Roboto"/>
                <a:cs typeface="Roboto"/>
              </a:rPr>
              <a:t> </a:t>
            </a:r>
            <a:r>
              <a:rPr lang="en-US" sz="1850" b="1" spc="-10" dirty="0">
                <a:latin typeface="Roboto"/>
                <a:cs typeface="Roboto"/>
              </a:rPr>
              <a:t>microbiome</a:t>
            </a:r>
            <a:r>
              <a:rPr lang="en-US" sz="1850" b="1" spc="-65" dirty="0">
                <a:latin typeface="Roboto"/>
                <a:cs typeface="Roboto"/>
              </a:rPr>
              <a:t> </a:t>
            </a:r>
            <a:r>
              <a:rPr lang="en-US" sz="1850" b="1" spc="-10" dirty="0">
                <a:latin typeface="Roboto"/>
                <a:cs typeface="Roboto"/>
              </a:rPr>
              <a:t>features</a:t>
            </a:r>
            <a:r>
              <a:rPr lang="en-US" sz="1850" spc="-10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from</a:t>
            </a:r>
            <a:r>
              <a:rPr lang="en-US" sz="1850" spc="-55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lifestyle</a:t>
            </a:r>
            <a:r>
              <a:rPr lang="en-US" sz="1850" spc="-55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data</a:t>
            </a:r>
            <a:r>
              <a:rPr lang="en-US" sz="1850" spc="-50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and</a:t>
            </a:r>
            <a:r>
              <a:rPr lang="en-US" sz="1850" spc="-55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projects</a:t>
            </a:r>
            <a:r>
              <a:rPr lang="en-US" sz="1850" spc="-55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them</a:t>
            </a:r>
            <a:r>
              <a:rPr lang="en-US" sz="1850" spc="-50" dirty="0">
                <a:latin typeface="Roboto"/>
                <a:cs typeface="Roboto"/>
              </a:rPr>
              <a:t> </a:t>
            </a:r>
            <a:r>
              <a:rPr lang="en-US" sz="1850" spc="-20" dirty="0">
                <a:latin typeface="Roboto"/>
                <a:cs typeface="Roboto"/>
              </a:rPr>
              <a:t>into </a:t>
            </a:r>
            <a:r>
              <a:rPr lang="en-US" sz="1850" spc="-10" dirty="0">
                <a:latin typeface="Roboto"/>
                <a:cs typeface="Roboto"/>
              </a:rPr>
              <a:t>independent</a:t>
            </a:r>
            <a:r>
              <a:rPr lang="en-US" sz="1850" spc="-75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cohorts</a:t>
            </a:r>
            <a:r>
              <a:rPr lang="en-US" sz="1850" spc="-75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for</a:t>
            </a:r>
            <a:r>
              <a:rPr lang="en-US" sz="1850" spc="-75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association</a:t>
            </a:r>
            <a:r>
              <a:rPr lang="en-US" sz="1850" spc="-75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testing.</a:t>
            </a:r>
            <a:endParaRPr lang="en-US" sz="1850" dirty="0">
              <a:latin typeface="Roboto"/>
              <a:cs typeface="Roboto"/>
            </a:endParaRPr>
          </a:p>
          <a:p>
            <a:pPr algn="l"/>
            <a:endParaRPr lang="en-US" sz="1850" dirty="0"/>
          </a:p>
        </p:txBody>
      </p:sp>
      <p:graphicFrame>
        <p:nvGraphicFramePr>
          <p:cNvPr id="125" name="Table 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504559"/>
              </p:ext>
            </p:extLst>
          </p:nvPr>
        </p:nvGraphicFramePr>
        <p:xfrm>
          <a:off x="6498252" y="2785306"/>
          <a:ext cx="4698439" cy="27241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44525">
                  <a:extLst>
                    <a:ext uri="{9D8B030D-6E8A-4147-A177-3AD203B41FA5}">
                      <a16:colId xmlns:a16="http://schemas.microsoft.com/office/drawing/2014/main" val="2628096606"/>
                    </a:ext>
                  </a:extLst>
                </a:gridCol>
                <a:gridCol w="1376957">
                  <a:extLst>
                    <a:ext uri="{9D8B030D-6E8A-4147-A177-3AD203B41FA5}">
                      <a16:colId xmlns:a16="http://schemas.microsoft.com/office/drawing/2014/main" val="4165063416"/>
                    </a:ext>
                  </a:extLst>
                </a:gridCol>
                <a:gridCol w="1376957">
                  <a:extLst>
                    <a:ext uri="{9D8B030D-6E8A-4147-A177-3AD203B41FA5}">
                      <a16:colId xmlns:a16="http://schemas.microsoft.com/office/drawing/2014/main" val="1515252412"/>
                    </a:ext>
                  </a:extLst>
                </a:gridCol>
              </a:tblGrid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b="1" spc="-10" dirty="0"/>
                        <a:t>Variable</a:t>
                      </a:r>
                      <a:endParaRPr sz="1400" b="1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b="1" spc="-25" dirty="0"/>
                        <a:t>AGP</a:t>
                      </a:r>
                      <a:endParaRPr sz="1400" b="1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lang="en-US" sz="1400" b="1" spc="-25" dirty="0"/>
                        <a:t>UK Biobank</a:t>
                      </a:r>
                      <a:endParaRPr sz="1400" b="1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397929473"/>
                  </a:ext>
                </a:extLst>
              </a:tr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spc="-50" dirty="0"/>
                        <a:t>N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spc="-10" dirty="0"/>
                        <a:t>9,559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spc="-10" dirty="0"/>
                        <a:t>117,909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2903818467"/>
                  </a:ext>
                </a:extLst>
              </a:tr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Age,</a:t>
                      </a:r>
                      <a:r>
                        <a:rPr sz="1400" spc="85" dirty="0"/>
                        <a:t> </a:t>
                      </a:r>
                      <a:r>
                        <a:rPr sz="1400" spc="-10" dirty="0"/>
                        <a:t>years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marL="34290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46.0</a:t>
                      </a:r>
                      <a:r>
                        <a:rPr sz="1400" spc="20" dirty="0"/>
                        <a:t> </a:t>
                      </a:r>
                      <a:r>
                        <a:rPr sz="1400" dirty="0"/>
                        <a:t>±</a:t>
                      </a:r>
                      <a:r>
                        <a:rPr sz="1400" spc="25" dirty="0"/>
                        <a:t> </a:t>
                      </a:r>
                      <a:r>
                        <a:rPr sz="1400" spc="-20" dirty="0"/>
                        <a:t>17.2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marL="3835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56.0</a:t>
                      </a:r>
                      <a:r>
                        <a:rPr sz="1400" spc="20" dirty="0"/>
                        <a:t> </a:t>
                      </a:r>
                      <a:r>
                        <a:rPr sz="1400" dirty="0"/>
                        <a:t>±</a:t>
                      </a:r>
                      <a:r>
                        <a:rPr sz="1400" spc="25" dirty="0"/>
                        <a:t> </a:t>
                      </a:r>
                      <a:r>
                        <a:rPr sz="1400" spc="-25" dirty="0"/>
                        <a:t>8.1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828719424"/>
                  </a:ext>
                </a:extLst>
              </a:tr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BMI,</a:t>
                      </a:r>
                      <a:r>
                        <a:rPr sz="1400" spc="45" dirty="0"/>
                        <a:t> </a:t>
                      </a:r>
                      <a:r>
                        <a:rPr sz="1400" spc="-10" dirty="0"/>
                        <a:t>kg/m²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marL="3835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24.0</a:t>
                      </a:r>
                      <a:r>
                        <a:rPr sz="1400" spc="20" dirty="0"/>
                        <a:t> </a:t>
                      </a:r>
                      <a:r>
                        <a:rPr sz="1400" dirty="0"/>
                        <a:t>±</a:t>
                      </a:r>
                      <a:r>
                        <a:rPr sz="1400" spc="25" dirty="0"/>
                        <a:t> </a:t>
                      </a:r>
                      <a:r>
                        <a:rPr sz="1400" spc="-25" dirty="0"/>
                        <a:t>5.1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marL="3835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27.1</a:t>
                      </a:r>
                      <a:r>
                        <a:rPr sz="1400" spc="20" dirty="0"/>
                        <a:t> </a:t>
                      </a:r>
                      <a:r>
                        <a:rPr sz="1400" dirty="0"/>
                        <a:t>±</a:t>
                      </a:r>
                      <a:r>
                        <a:rPr sz="1400" spc="25" dirty="0"/>
                        <a:t> </a:t>
                      </a:r>
                      <a:r>
                        <a:rPr sz="1400" spc="-25" dirty="0"/>
                        <a:t>4.7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2014418643"/>
                  </a:ext>
                </a:extLst>
              </a:tr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Female</a:t>
                      </a:r>
                      <a:r>
                        <a:rPr sz="1400" spc="90" dirty="0"/>
                        <a:t> </a:t>
                      </a:r>
                      <a:r>
                        <a:rPr sz="1400" spc="-25" dirty="0"/>
                        <a:t>sex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5,125</a:t>
                      </a:r>
                      <a:r>
                        <a:rPr sz="1400" spc="55" dirty="0"/>
                        <a:t> </a:t>
                      </a:r>
                      <a:r>
                        <a:rPr sz="1400" spc="-10" dirty="0"/>
                        <a:t>(53.6%)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64,832</a:t>
                      </a:r>
                      <a:r>
                        <a:rPr sz="1400" spc="70" dirty="0"/>
                        <a:t> </a:t>
                      </a:r>
                      <a:r>
                        <a:rPr sz="1400" spc="-10" dirty="0"/>
                        <a:t>(55.0%)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2669883804"/>
                  </a:ext>
                </a:extLst>
              </a:tr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spc="-10" dirty="0"/>
                        <a:t>Caucasian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8,447</a:t>
                      </a:r>
                      <a:r>
                        <a:rPr sz="1400" spc="55" dirty="0"/>
                        <a:t> </a:t>
                      </a:r>
                      <a:r>
                        <a:rPr sz="1400" spc="-10" dirty="0"/>
                        <a:t>(88.4%)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110,452</a:t>
                      </a:r>
                      <a:r>
                        <a:rPr sz="1400" spc="80" dirty="0"/>
                        <a:t> </a:t>
                      </a:r>
                      <a:r>
                        <a:rPr sz="1400" spc="-10" dirty="0"/>
                        <a:t>(93.7%)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2609967060"/>
                  </a:ext>
                </a:extLst>
              </a:tr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Asian</a:t>
                      </a:r>
                      <a:r>
                        <a:rPr sz="1400" spc="35" dirty="0"/>
                        <a:t> </a:t>
                      </a:r>
                      <a:r>
                        <a:rPr sz="1400" dirty="0"/>
                        <a:t>or</a:t>
                      </a:r>
                      <a:r>
                        <a:rPr sz="1400" spc="35" dirty="0"/>
                        <a:t> </a:t>
                      </a:r>
                      <a:r>
                        <a:rPr sz="1400" dirty="0"/>
                        <a:t>Pacific</a:t>
                      </a:r>
                      <a:r>
                        <a:rPr sz="1400" spc="40" dirty="0"/>
                        <a:t> </a:t>
                      </a:r>
                      <a:r>
                        <a:rPr sz="1400" spc="-10" dirty="0"/>
                        <a:t>Islander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456</a:t>
                      </a:r>
                      <a:r>
                        <a:rPr sz="1400" spc="20" dirty="0"/>
                        <a:t> </a:t>
                      </a:r>
                      <a:r>
                        <a:rPr sz="1400" spc="-10" dirty="0"/>
                        <a:t>(4.8%)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2,931</a:t>
                      </a:r>
                      <a:r>
                        <a:rPr sz="1400" spc="55" dirty="0"/>
                        <a:t> </a:t>
                      </a:r>
                      <a:r>
                        <a:rPr sz="1400" spc="-10" dirty="0"/>
                        <a:t>(2.5%)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1323606001"/>
                  </a:ext>
                </a:extLst>
              </a:tr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African</a:t>
                      </a:r>
                      <a:r>
                        <a:rPr sz="1400" spc="75" dirty="0"/>
                        <a:t> </a:t>
                      </a:r>
                      <a:r>
                        <a:rPr sz="1400" spc="-10" dirty="0"/>
                        <a:t>American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82</a:t>
                      </a:r>
                      <a:r>
                        <a:rPr sz="1400" spc="15" dirty="0"/>
                        <a:t> </a:t>
                      </a:r>
                      <a:r>
                        <a:rPr sz="1400" spc="-10" dirty="0"/>
                        <a:t>(0.9%)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2,204</a:t>
                      </a:r>
                      <a:r>
                        <a:rPr sz="1400" spc="55" dirty="0"/>
                        <a:t> </a:t>
                      </a:r>
                      <a:r>
                        <a:rPr sz="1400" spc="-10" dirty="0"/>
                        <a:t>(1.9%)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3609288357"/>
                  </a:ext>
                </a:extLst>
              </a:tr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spc="-10" dirty="0"/>
                        <a:t>Hispanic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230</a:t>
                      </a:r>
                      <a:r>
                        <a:rPr sz="1400" spc="20" dirty="0"/>
                        <a:t> </a:t>
                      </a:r>
                      <a:r>
                        <a:rPr sz="1400" spc="-10" dirty="0"/>
                        <a:t>(2.4%)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0</a:t>
                      </a:r>
                      <a:r>
                        <a:rPr sz="1400" spc="10" dirty="0"/>
                        <a:t> </a:t>
                      </a:r>
                      <a:r>
                        <a:rPr sz="1400" spc="-10" dirty="0"/>
                        <a:t>(0.0%)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2276298835"/>
                  </a:ext>
                </a:extLst>
              </a:tr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spc="-10" dirty="0"/>
                        <a:t>Other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344</a:t>
                      </a:r>
                      <a:r>
                        <a:rPr sz="1400" spc="20" dirty="0"/>
                        <a:t> </a:t>
                      </a:r>
                      <a:r>
                        <a:rPr sz="1400" spc="-10" dirty="0"/>
                        <a:t>(3.6%)</a:t>
                      </a:r>
                      <a:endParaRPr sz="140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2,322</a:t>
                      </a:r>
                      <a:r>
                        <a:rPr sz="1400" spc="55" dirty="0"/>
                        <a:t> </a:t>
                      </a:r>
                      <a:r>
                        <a:rPr sz="1400" spc="-10" dirty="0"/>
                        <a:t>(2.0%)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1737539612"/>
                  </a:ext>
                </a:extLst>
              </a:tr>
              <a:tr h="24353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Fluid</a:t>
                      </a:r>
                      <a:r>
                        <a:rPr sz="1400" spc="45" dirty="0"/>
                        <a:t> </a:t>
                      </a:r>
                      <a:r>
                        <a:rPr sz="1400" dirty="0"/>
                        <a:t>intelligence</a:t>
                      </a:r>
                      <a:r>
                        <a:rPr sz="1400" spc="45" dirty="0"/>
                        <a:t> </a:t>
                      </a:r>
                      <a:r>
                        <a:rPr sz="1400" spc="-20" dirty="0"/>
                        <a:t>score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spc="-50" dirty="0"/>
                        <a:t>—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marL="42354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/>
                        <a:t>6.3</a:t>
                      </a:r>
                      <a:r>
                        <a:rPr sz="1400" spc="20" dirty="0"/>
                        <a:t> </a:t>
                      </a:r>
                      <a:r>
                        <a:rPr sz="1400" dirty="0"/>
                        <a:t>±</a:t>
                      </a:r>
                      <a:r>
                        <a:rPr sz="1400" spc="20" dirty="0"/>
                        <a:t> </a:t>
                      </a:r>
                      <a:r>
                        <a:rPr sz="1400" spc="-25" dirty="0"/>
                        <a:t>2.1</a:t>
                      </a:r>
                      <a:endParaRPr sz="1400" dirty="0">
                        <a:latin typeface="Roboto"/>
                        <a:cs typeface="Roboto"/>
                      </a:endParaRPr>
                    </a:p>
                  </a:txBody>
                  <a:tcPr marL="0" marR="0" marT="34290" marB="0"/>
                </a:tc>
                <a:extLst>
                  <a:ext uri="{0D108BD9-81ED-4DB2-BD59-A6C34878D82A}">
                    <a16:rowId xmlns:a16="http://schemas.microsoft.com/office/drawing/2014/main" val="114609457"/>
                  </a:ext>
                </a:extLst>
              </a:tr>
            </a:tbl>
          </a:graphicData>
        </a:graphic>
      </p:graphicFrame>
      <p:sp>
        <p:nvSpPr>
          <p:cNvPr id="129" name="Rounded Rectangle 128"/>
          <p:cNvSpPr/>
          <p:nvPr/>
        </p:nvSpPr>
        <p:spPr>
          <a:xfrm>
            <a:off x="136422" y="1929202"/>
            <a:ext cx="6105628" cy="429434"/>
          </a:xfrm>
          <a:prstGeom prst="roundRect">
            <a:avLst/>
          </a:prstGeom>
          <a:solidFill>
            <a:srgbClr val="FFB5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Roboto"/>
              </a:rPr>
              <a:t>INTRODUCTION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371891" y="1914053"/>
            <a:ext cx="8527560" cy="425922"/>
          </a:xfrm>
          <a:prstGeom prst="roundRect">
            <a:avLst/>
          </a:prstGeom>
          <a:solidFill>
            <a:srgbClr val="FFB5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Roboto"/>
              </a:rPr>
              <a:t>RESULTS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5027887" y="7208684"/>
            <a:ext cx="4573099" cy="407752"/>
          </a:xfrm>
          <a:prstGeom prst="roundRect">
            <a:avLst/>
          </a:prstGeom>
          <a:solidFill>
            <a:srgbClr val="FFB5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Roboto"/>
              </a:rPr>
              <a:t>CONCLUSIONS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95731" y="4901002"/>
            <a:ext cx="6105628" cy="429434"/>
          </a:xfrm>
          <a:prstGeom prst="roundRect">
            <a:avLst/>
          </a:prstGeom>
          <a:solidFill>
            <a:srgbClr val="FFB5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Roboto"/>
              </a:rPr>
              <a:t>METHODS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8778" y="5387975"/>
            <a:ext cx="6441872" cy="459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1145" marR="5080" indent="-259079">
              <a:lnSpc>
                <a:spcPts val="1850"/>
              </a:lnSpc>
              <a:spcBef>
                <a:spcPts val="465"/>
              </a:spcBef>
              <a:spcAft>
                <a:spcPts val="600"/>
              </a:spcAft>
              <a:buSzPct val="78378"/>
              <a:buFont typeface="Times New Roman"/>
              <a:buChar char="●"/>
              <a:tabLst>
                <a:tab pos="271145" algn="l"/>
              </a:tabLst>
            </a:pPr>
            <a:r>
              <a:rPr lang="en-US" sz="1850" dirty="0">
                <a:latin typeface="Roboto"/>
                <a:cs typeface="Roboto"/>
              </a:rPr>
              <a:t>The </a:t>
            </a:r>
            <a:r>
              <a:rPr lang="en-US" sz="1850" b="1" dirty="0">
                <a:latin typeface="Roboto"/>
                <a:cs typeface="Roboto"/>
              </a:rPr>
              <a:t>American Gut Project (AGP; n=9,559) </a:t>
            </a:r>
            <a:r>
              <a:rPr lang="en-US" sz="1850" dirty="0">
                <a:latin typeface="Roboto"/>
                <a:cs typeface="Roboto"/>
              </a:rPr>
              <a:t>is a population-based cohort including gut microbiome data and broad phenotyping.</a:t>
            </a:r>
          </a:p>
          <a:p>
            <a:pPr marL="271145" marR="5080" indent="-259079">
              <a:lnSpc>
                <a:spcPts val="1850"/>
              </a:lnSpc>
              <a:spcBef>
                <a:spcPts val="465"/>
              </a:spcBef>
              <a:spcAft>
                <a:spcPts val="600"/>
              </a:spcAft>
              <a:buSzPct val="78378"/>
              <a:buFont typeface="Times New Roman"/>
              <a:buChar char="●"/>
              <a:tabLst>
                <a:tab pos="271145" algn="l"/>
              </a:tabLst>
            </a:pPr>
            <a:r>
              <a:rPr lang="en-US" sz="1850" spc="-10" dirty="0">
                <a:latin typeface="Roboto"/>
                <a:cs typeface="Roboto"/>
              </a:rPr>
              <a:t>The </a:t>
            </a:r>
            <a:r>
              <a:rPr lang="en-US" sz="1850" b="1" spc="-10" dirty="0">
                <a:latin typeface="Roboto"/>
                <a:cs typeface="Roboto"/>
              </a:rPr>
              <a:t>UK Biobank (UKB; n=117,909</a:t>
            </a:r>
            <a:r>
              <a:rPr lang="en-US" sz="1850" b="1" spc="-10" dirty="0" smtClean="0">
                <a:latin typeface="Roboto"/>
                <a:cs typeface="Roboto"/>
              </a:rPr>
              <a:t>)</a:t>
            </a:r>
            <a:r>
              <a:rPr lang="en-US" sz="1850" spc="-10" dirty="0">
                <a:latin typeface="Roboto"/>
                <a:cs typeface="Roboto"/>
              </a:rPr>
              <a:t> </a:t>
            </a:r>
            <a:r>
              <a:rPr lang="en-US" sz="1850" spc="-10" dirty="0" smtClean="0">
                <a:latin typeface="Roboto"/>
                <a:cs typeface="Roboto"/>
              </a:rPr>
              <a:t>population cohort</a:t>
            </a:r>
            <a:r>
              <a:rPr lang="en-US" sz="1850" spc="-10" dirty="0" smtClean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includes cognitive testing data </a:t>
            </a:r>
            <a:r>
              <a:rPr lang="en-US" sz="1850" spc="-10" dirty="0" smtClean="0">
                <a:latin typeface="Roboto"/>
                <a:cs typeface="Roboto"/>
              </a:rPr>
              <a:t>and broad phenotyping.</a:t>
            </a:r>
            <a:endParaRPr lang="en-US" sz="1850" dirty="0" smtClean="0">
              <a:latin typeface="Roboto"/>
              <a:cs typeface="Roboto"/>
            </a:endParaRPr>
          </a:p>
          <a:p>
            <a:pPr marL="12066" marR="5080">
              <a:lnSpc>
                <a:spcPts val="1850"/>
              </a:lnSpc>
              <a:spcBef>
                <a:spcPts val="465"/>
              </a:spcBef>
              <a:spcAft>
                <a:spcPts val="500"/>
              </a:spcAft>
              <a:buSzPct val="78378"/>
              <a:tabLst>
                <a:tab pos="271145" algn="l"/>
              </a:tabLst>
            </a:pPr>
            <a:r>
              <a:rPr lang="en-US" sz="1850" u="sng" spc="-10" dirty="0" smtClean="0">
                <a:latin typeface="Roboto"/>
                <a:cs typeface="Roboto"/>
              </a:rPr>
              <a:t>Step-wise analyses were performed:</a:t>
            </a:r>
          </a:p>
          <a:p>
            <a:pPr marL="469266" marR="5080" lvl="1" indent="-457200">
              <a:lnSpc>
                <a:spcPts val="1850"/>
              </a:lnSpc>
              <a:spcAft>
                <a:spcPts val="500"/>
              </a:spcAft>
              <a:buSzPct val="78378"/>
              <a:buAutoNum type="arabicPeriod"/>
              <a:tabLst>
                <a:tab pos="271145" algn="l"/>
              </a:tabLst>
            </a:pPr>
            <a:r>
              <a:rPr lang="en-US" sz="1850" spc="-10" dirty="0" smtClean="0">
                <a:latin typeface="Roboto"/>
                <a:cs typeface="Roboto"/>
              </a:rPr>
              <a:t>Principal </a:t>
            </a:r>
            <a:r>
              <a:rPr lang="en-US" sz="1850" spc="-10" dirty="0">
                <a:latin typeface="Roboto"/>
                <a:cs typeface="Roboto"/>
              </a:rPr>
              <a:t>component analysis was performed on 819 operational taxonomic units (OTUs) in AGP.</a:t>
            </a:r>
          </a:p>
          <a:p>
            <a:pPr marL="469266" marR="5080" lvl="1" indent="-457200">
              <a:lnSpc>
                <a:spcPts val="1850"/>
              </a:lnSpc>
              <a:spcAft>
                <a:spcPts val="500"/>
              </a:spcAft>
              <a:buSzPct val="78378"/>
              <a:buFontTx/>
              <a:buAutoNum type="arabicPeriod"/>
              <a:tabLst>
                <a:tab pos="271145" algn="l"/>
              </a:tabLst>
            </a:pPr>
            <a:r>
              <a:rPr lang="en-US" sz="1850" spc="-10" dirty="0">
                <a:latin typeface="Roboto"/>
                <a:cs typeface="Roboto"/>
              </a:rPr>
              <a:t>Microbiome components (MPCs) were each modelled using 27 lifestyle features </a:t>
            </a:r>
            <a:r>
              <a:rPr lang="en-US" sz="1850" i="1" spc="-10" dirty="0">
                <a:latin typeface="Roboto"/>
                <a:cs typeface="Roboto"/>
              </a:rPr>
              <a:t>(e.g. diet, substance use, exercise)</a:t>
            </a:r>
            <a:r>
              <a:rPr lang="en-US" sz="1850" spc="-10" dirty="0">
                <a:latin typeface="Roboto"/>
                <a:cs typeface="Roboto"/>
              </a:rPr>
              <a:t> with random forests &amp; nested cross-validation.</a:t>
            </a:r>
          </a:p>
          <a:p>
            <a:pPr marL="469266" marR="5080" lvl="1" indent="-457200">
              <a:lnSpc>
                <a:spcPts val="1850"/>
              </a:lnSpc>
              <a:spcAft>
                <a:spcPts val="500"/>
              </a:spcAft>
              <a:buSzPct val="78378"/>
              <a:buAutoNum type="arabicPeriod"/>
              <a:tabLst>
                <a:tab pos="271145" algn="l"/>
              </a:tabLst>
            </a:pPr>
            <a:r>
              <a:rPr lang="en-US" sz="1850" spc="-10" dirty="0">
                <a:latin typeface="Roboto"/>
                <a:cs typeface="Roboto"/>
              </a:rPr>
              <a:t>MPCs achieving test R</a:t>
            </a:r>
            <a:r>
              <a:rPr lang="en-US" sz="1850" spc="-10" baseline="30000" dirty="0">
                <a:latin typeface="Roboto"/>
                <a:cs typeface="Roboto"/>
              </a:rPr>
              <a:t>2</a:t>
            </a:r>
            <a:r>
              <a:rPr lang="en-US" sz="1850" spc="-10" dirty="0">
                <a:latin typeface="Roboto"/>
                <a:cs typeface="Roboto"/>
              </a:rPr>
              <a:t>&gt;0.2 were carried forward.</a:t>
            </a:r>
          </a:p>
          <a:p>
            <a:pPr marL="469266" marR="5080" lvl="1" indent="-457200">
              <a:lnSpc>
                <a:spcPts val="1850"/>
              </a:lnSpc>
              <a:spcAft>
                <a:spcPts val="500"/>
              </a:spcAft>
              <a:buSzPct val="78378"/>
              <a:buAutoNum type="arabicPeriod"/>
              <a:tabLst>
                <a:tab pos="271145" algn="l"/>
              </a:tabLst>
            </a:pPr>
            <a:r>
              <a:rPr lang="en-US" sz="1850" spc="-10" dirty="0">
                <a:latin typeface="Roboto"/>
                <a:cs typeface="Roboto"/>
              </a:rPr>
              <a:t>Selected models from Step 3 were fit in UKB, using the same 27 lifestyle factors as predictors.</a:t>
            </a:r>
          </a:p>
          <a:p>
            <a:pPr marL="469266" marR="5080" lvl="1" indent="-457200">
              <a:lnSpc>
                <a:spcPts val="1850"/>
              </a:lnSpc>
              <a:spcAft>
                <a:spcPts val="500"/>
              </a:spcAft>
              <a:buSzPct val="78378"/>
              <a:buAutoNum type="arabicPeriod"/>
              <a:tabLst>
                <a:tab pos="271145" algn="l"/>
              </a:tabLst>
            </a:pPr>
            <a:r>
              <a:rPr lang="en-US" sz="1850" spc="-10" dirty="0">
                <a:latin typeface="Roboto"/>
                <a:cs typeface="Roboto"/>
              </a:rPr>
              <a:t>Predicted MPCs were tested for association with fluid intelligence scores in UKB using regression.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-6350" y="10789117"/>
            <a:ext cx="1412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Harmonize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289050" y="10788170"/>
            <a:ext cx="1543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Build models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13050" y="10788170"/>
            <a:ext cx="1709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Predict MPCs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51106" y="10801182"/>
            <a:ext cx="2833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Association tests</a:t>
            </a:r>
          </a:p>
        </p:txBody>
      </p:sp>
      <p:pic>
        <p:nvPicPr>
          <p:cNvPr id="138" name="object 97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2439747" y="10402807"/>
            <a:ext cx="609114" cy="57675"/>
          </a:xfrm>
          <a:prstGeom prst="rect">
            <a:avLst/>
          </a:prstGeom>
        </p:spPr>
      </p:pic>
      <p:pic>
        <p:nvPicPr>
          <p:cNvPr id="139" name="object 97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261336" y="10369817"/>
            <a:ext cx="609114" cy="57675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988315" y="10435539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AGP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242189" y="10427491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UKB</a:t>
            </a:r>
          </a:p>
        </p:txBody>
      </p:sp>
      <p:pic>
        <p:nvPicPr>
          <p:cNvPr id="144" name="Picture 14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38643" y="9883775"/>
            <a:ext cx="1298407" cy="1298407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4964480" y="7612502"/>
            <a:ext cx="4636506" cy="29392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50" dirty="0">
                <a:latin typeface="Roboto"/>
              </a:rPr>
              <a:t>MPC1 shows both strongest correlation with cognition as well as cross validated variance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50" dirty="0">
                <a:latin typeface="Roboto"/>
              </a:rPr>
              <a:t>Projected microbiome PC profile based on lifestyle and health factors can capture variability in cognitive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50" b="1" dirty="0">
                <a:latin typeface="Roboto"/>
              </a:rPr>
              <a:t>ML-LAMP</a:t>
            </a:r>
            <a:r>
              <a:rPr lang="en-US" sz="1850" dirty="0">
                <a:latin typeface="Roboto"/>
              </a:rPr>
              <a:t> could be used to understand the role of gut microbiome in other traits at biobank scale.</a:t>
            </a:r>
          </a:p>
          <a:p>
            <a:endParaRPr lang="en-US" sz="1850" dirty="0">
              <a:latin typeface="Roboto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1330176" y="2642916"/>
            <a:ext cx="3942245" cy="3198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065" marR="356235">
              <a:lnSpc>
                <a:spcPts val="1910"/>
              </a:lnSpc>
              <a:spcAft>
                <a:spcPts val="1000"/>
              </a:spcAft>
              <a:buSzPct val="78947"/>
              <a:tabLst>
                <a:tab pos="277495" algn="l"/>
              </a:tabLst>
            </a:pPr>
            <a:r>
              <a:rPr lang="en-US" sz="1850" spc="-10" dirty="0">
                <a:latin typeface="Roboto"/>
                <a:cs typeface="Roboto"/>
              </a:rPr>
              <a:t>- The top</a:t>
            </a:r>
            <a:r>
              <a:rPr lang="en-US" sz="1850" spc="-60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150</a:t>
            </a:r>
            <a:r>
              <a:rPr lang="en-US" sz="1850" spc="-60" dirty="0">
                <a:latin typeface="Roboto"/>
                <a:cs typeface="Roboto"/>
              </a:rPr>
              <a:t> M</a:t>
            </a:r>
            <a:r>
              <a:rPr lang="en-US" sz="1850" dirty="0">
                <a:latin typeface="Roboto"/>
                <a:cs typeface="Roboto"/>
              </a:rPr>
              <a:t>PCs</a:t>
            </a:r>
            <a:r>
              <a:rPr lang="en-US" sz="1850" spc="-60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explained</a:t>
            </a:r>
            <a:r>
              <a:rPr lang="en-US" sz="1850" spc="-55" dirty="0">
                <a:latin typeface="Roboto"/>
                <a:cs typeface="Roboto"/>
              </a:rPr>
              <a:t> </a:t>
            </a:r>
            <a:r>
              <a:rPr lang="en-US" sz="1850" spc="-25" dirty="0">
                <a:latin typeface="Roboto"/>
                <a:cs typeface="Roboto"/>
              </a:rPr>
              <a:t>50 </a:t>
            </a:r>
            <a:r>
              <a:rPr lang="en-US" sz="1850" spc="-10" dirty="0">
                <a:latin typeface="Roboto"/>
                <a:cs typeface="Roboto"/>
              </a:rPr>
              <a:t>percent</a:t>
            </a:r>
            <a:r>
              <a:rPr lang="en-US" sz="1850" spc="-30" dirty="0">
                <a:latin typeface="Roboto"/>
                <a:cs typeface="Roboto"/>
              </a:rPr>
              <a:t> </a:t>
            </a:r>
            <a:r>
              <a:rPr lang="en-US" sz="1850" dirty="0">
                <a:latin typeface="Roboto"/>
                <a:cs typeface="Roboto"/>
              </a:rPr>
              <a:t>of</a:t>
            </a:r>
            <a:r>
              <a:rPr lang="en-US" sz="1850" spc="-25" dirty="0">
                <a:latin typeface="Roboto"/>
                <a:cs typeface="Roboto"/>
              </a:rPr>
              <a:t> </a:t>
            </a:r>
            <a:r>
              <a:rPr lang="en-US" sz="1850" spc="-10" dirty="0">
                <a:latin typeface="Roboto"/>
                <a:cs typeface="Roboto"/>
              </a:rPr>
              <a:t>variance (</a:t>
            </a:r>
            <a:r>
              <a:rPr lang="en-US" sz="1850" b="1" spc="-10" dirty="0">
                <a:latin typeface="Roboto"/>
                <a:cs typeface="Roboto"/>
              </a:rPr>
              <a:t>Fig. </a:t>
            </a:r>
            <a:r>
              <a:rPr lang="en-US" sz="1850" b="1" spc="-25" dirty="0">
                <a:latin typeface="Roboto"/>
                <a:cs typeface="Roboto"/>
              </a:rPr>
              <a:t>1A</a:t>
            </a:r>
            <a:r>
              <a:rPr lang="en-US" sz="1850" spc="-25" dirty="0">
                <a:latin typeface="Roboto"/>
                <a:cs typeface="Roboto"/>
              </a:rPr>
              <a:t>)</a:t>
            </a:r>
            <a:endParaRPr lang="en-US" sz="1850" dirty="0">
              <a:latin typeface="Roboto"/>
              <a:cs typeface="Roboto"/>
            </a:endParaRPr>
          </a:p>
          <a:p>
            <a:pPr marL="12065" marR="356235">
              <a:lnSpc>
                <a:spcPts val="1910"/>
              </a:lnSpc>
              <a:spcAft>
                <a:spcPts val="1000"/>
              </a:spcAft>
              <a:buSzPct val="78947"/>
              <a:tabLst>
                <a:tab pos="277495" algn="l"/>
              </a:tabLst>
            </a:pPr>
            <a:r>
              <a:rPr lang="en-US" sz="1850" spc="-25" dirty="0">
                <a:latin typeface="Roboto"/>
                <a:cs typeface="Roboto"/>
              </a:rPr>
              <a:t>- 10 </a:t>
            </a:r>
            <a:r>
              <a:rPr lang="en-US" sz="1850" spc="-10" dirty="0">
                <a:latin typeface="Roboto"/>
                <a:cs typeface="Roboto"/>
              </a:rPr>
              <a:t>M</a:t>
            </a:r>
            <a:r>
              <a:rPr lang="en-US" sz="1850" dirty="0">
                <a:latin typeface="Roboto"/>
                <a:cs typeface="Roboto"/>
              </a:rPr>
              <a:t>PCs</a:t>
            </a:r>
            <a:r>
              <a:rPr lang="en-US" sz="1850" spc="-40" dirty="0">
                <a:latin typeface="Roboto"/>
                <a:cs typeface="Roboto"/>
              </a:rPr>
              <a:t> were successfully modelled with random forest at 2%+ variance explained </a:t>
            </a:r>
            <a:r>
              <a:rPr lang="en-US" sz="1850" spc="-10" dirty="0">
                <a:latin typeface="Roboto"/>
                <a:cs typeface="Roboto"/>
              </a:rPr>
              <a:t>(</a:t>
            </a:r>
            <a:r>
              <a:rPr lang="en-US" sz="1850" b="1" spc="-10" dirty="0">
                <a:latin typeface="Roboto"/>
                <a:cs typeface="Roboto"/>
              </a:rPr>
              <a:t>Fig,</a:t>
            </a:r>
            <a:r>
              <a:rPr lang="en-US" sz="1850" b="1" spc="-55" dirty="0">
                <a:latin typeface="Roboto"/>
                <a:cs typeface="Roboto"/>
              </a:rPr>
              <a:t> </a:t>
            </a:r>
            <a:r>
              <a:rPr lang="en-US" sz="1850" b="1" dirty="0">
                <a:latin typeface="Roboto"/>
                <a:cs typeface="Roboto"/>
              </a:rPr>
              <a:t>1B/</a:t>
            </a:r>
            <a:r>
              <a:rPr lang="en-US" sz="1850" b="1" spc="-25" dirty="0">
                <a:latin typeface="Roboto"/>
                <a:cs typeface="Roboto"/>
              </a:rPr>
              <a:t>D</a:t>
            </a:r>
            <a:r>
              <a:rPr lang="en-US" sz="1850" spc="-25" dirty="0">
                <a:latin typeface="Roboto"/>
                <a:cs typeface="Roboto"/>
              </a:rPr>
              <a:t>) </a:t>
            </a:r>
          </a:p>
          <a:p>
            <a:pPr marL="12065" marR="356235">
              <a:lnSpc>
                <a:spcPts val="1910"/>
              </a:lnSpc>
              <a:spcAft>
                <a:spcPts val="1000"/>
              </a:spcAft>
              <a:buSzPct val="78947"/>
              <a:tabLst>
                <a:tab pos="277495" algn="l"/>
              </a:tabLst>
            </a:pPr>
            <a:r>
              <a:rPr lang="en-US" sz="1600" i="1" spc="-25" dirty="0">
                <a:latin typeface="Roboto"/>
                <a:cs typeface="Roboto"/>
              </a:rPr>
              <a:t>E.g., </a:t>
            </a:r>
            <a:r>
              <a:rPr lang="en-US" sz="1600" i="1" spc="-10" dirty="0">
                <a:latin typeface="Roboto"/>
                <a:cs typeface="Roboto"/>
              </a:rPr>
              <a:t>M</a:t>
            </a:r>
            <a:r>
              <a:rPr lang="en-US" sz="1600" i="1" dirty="0">
                <a:latin typeface="Roboto"/>
                <a:cs typeface="Roboto"/>
              </a:rPr>
              <a:t>PC1</a:t>
            </a:r>
            <a:r>
              <a:rPr lang="en-US" sz="1600" i="1" spc="-35" dirty="0">
                <a:latin typeface="Roboto"/>
                <a:cs typeface="Roboto"/>
              </a:rPr>
              <a:t> largely </a:t>
            </a:r>
            <a:r>
              <a:rPr lang="en-US" sz="1600" i="1" spc="-10" dirty="0">
                <a:latin typeface="Roboto"/>
                <a:cs typeface="Roboto"/>
              </a:rPr>
              <a:t>represented</a:t>
            </a:r>
            <a:r>
              <a:rPr lang="en-US" sz="1600" i="1" spc="-50" dirty="0">
                <a:latin typeface="Roboto"/>
                <a:cs typeface="Roboto"/>
              </a:rPr>
              <a:t> </a:t>
            </a:r>
            <a:r>
              <a:rPr lang="en-US" sz="1600" i="1" spc="-20" dirty="0" err="1">
                <a:latin typeface="Roboto"/>
                <a:cs typeface="Roboto"/>
              </a:rPr>
              <a:t>Ruminococcus</a:t>
            </a:r>
            <a:r>
              <a:rPr lang="en-US" sz="1600" i="1" spc="-50" dirty="0">
                <a:latin typeface="Roboto"/>
                <a:cs typeface="Roboto"/>
              </a:rPr>
              <a:t> bacteria and </a:t>
            </a:r>
            <a:r>
              <a:rPr lang="en-US" sz="1600" i="1" spc="-25" dirty="0">
                <a:latin typeface="Roboto"/>
                <a:cs typeface="Roboto"/>
              </a:rPr>
              <a:t>was </a:t>
            </a:r>
            <a:r>
              <a:rPr lang="en-US" sz="1600" i="1" spc="-10" dirty="0">
                <a:latin typeface="Roboto"/>
                <a:cs typeface="Roboto"/>
              </a:rPr>
              <a:t>predicted by</a:t>
            </a:r>
            <a:r>
              <a:rPr lang="en-US" sz="1600" i="1" spc="-105" dirty="0">
                <a:latin typeface="Roboto"/>
                <a:cs typeface="Roboto"/>
              </a:rPr>
              <a:t> </a:t>
            </a:r>
            <a:r>
              <a:rPr lang="en-US" sz="1600" i="1" spc="-10" dirty="0">
                <a:latin typeface="Roboto"/>
                <a:cs typeface="Roboto"/>
              </a:rPr>
              <a:t>higher intake</a:t>
            </a:r>
            <a:r>
              <a:rPr lang="en-US" sz="1600" i="1" spc="-50" dirty="0">
                <a:latin typeface="Roboto"/>
                <a:cs typeface="Roboto"/>
              </a:rPr>
              <a:t> </a:t>
            </a:r>
            <a:r>
              <a:rPr lang="en-US" sz="1600" i="1" dirty="0">
                <a:latin typeface="Roboto"/>
                <a:cs typeface="Roboto"/>
              </a:rPr>
              <a:t>of</a:t>
            </a:r>
            <a:r>
              <a:rPr lang="en-US" sz="1600" i="1" spc="-45" dirty="0">
                <a:latin typeface="Roboto"/>
                <a:cs typeface="Roboto"/>
              </a:rPr>
              <a:t> </a:t>
            </a:r>
            <a:r>
              <a:rPr lang="en-US" sz="1600" i="1" dirty="0">
                <a:latin typeface="Roboto"/>
                <a:cs typeface="Roboto"/>
              </a:rPr>
              <a:t>fruit</a:t>
            </a:r>
            <a:r>
              <a:rPr lang="en-US" sz="1600" i="1" spc="-45" dirty="0">
                <a:latin typeface="Roboto"/>
                <a:cs typeface="Roboto"/>
              </a:rPr>
              <a:t> </a:t>
            </a:r>
            <a:r>
              <a:rPr lang="en-US" sz="1600" i="1" spc="-25" dirty="0">
                <a:latin typeface="Roboto"/>
                <a:cs typeface="Roboto"/>
              </a:rPr>
              <a:t>and </a:t>
            </a:r>
            <a:r>
              <a:rPr lang="en-US" sz="1600" i="1" spc="-20" dirty="0">
                <a:latin typeface="Roboto"/>
                <a:cs typeface="Roboto"/>
              </a:rPr>
              <a:t>vegetables</a:t>
            </a:r>
            <a:r>
              <a:rPr lang="en-US" sz="1600" i="1" spc="-45" dirty="0">
                <a:latin typeface="Roboto"/>
                <a:cs typeface="Roboto"/>
              </a:rPr>
              <a:t> </a:t>
            </a:r>
            <a:r>
              <a:rPr lang="en-US" sz="1600" i="1" spc="-10" dirty="0">
                <a:latin typeface="Roboto"/>
                <a:cs typeface="Roboto"/>
              </a:rPr>
              <a:t>(</a:t>
            </a:r>
            <a:r>
              <a:rPr lang="en-US" sz="1600" b="1" i="1" spc="-10" dirty="0">
                <a:latin typeface="Roboto"/>
                <a:cs typeface="Roboto"/>
              </a:rPr>
              <a:t>Fig.</a:t>
            </a:r>
            <a:r>
              <a:rPr lang="en-US" sz="1600" b="1" i="1" spc="-45" dirty="0">
                <a:latin typeface="Roboto"/>
                <a:cs typeface="Roboto"/>
              </a:rPr>
              <a:t> </a:t>
            </a:r>
            <a:r>
              <a:rPr lang="en-US" sz="1600" b="1" i="1" dirty="0">
                <a:latin typeface="Roboto"/>
                <a:cs typeface="Roboto"/>
              </a:rPr>
              <a:t>1C/E</a:t>
            </a:r>
            <a:r>
              <a:rPr lang="en-US" sz="1600" i="1" spc="-25" dirty="0">
                <a:latin typeface="Roboto"/>
                <a:cs typeface="Roboto"/>
              </a:rPr>
              <a:t>)</a:t>
            </a:r>
            <a:endParaRPr lang="en-US" sz="1600" i="1" dirty="0">
              <a:latin typeface="Roboto"/>
              <a:cs typeface="Roboto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850" dirty="0"/>
          </a:p>
        </p:txBody>
      </p:sp>
      <p:sp>
        <p:nvSpPr>
          <p:cNvPr id="152" name="TextBox 151"/>
          <p:cNvSpPr txBox="1"/>
          <p:nvPr/>
        </p:nvSpPr>
        <p:spPr>
          <a:xfrm>
            <a:off x="6498252" y="10667641"/>
            <a:ext cx="85886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Roboto"/>
                <a:cs typeface="Roboto"/>
              </a:rPr>
              <a:t>Figure</a:t>
            </a:r>
            <a:r>
              <a:rPr lang="en-US" sz="1400" b="1" spc="45" dirty="0">
                <a:latin typeface="Roboto"/>
                <a:cs typeface="Roboto"/>
              </a:rPr>
              <a:t> </a:t>
            </a:r>
            <a:r>
              <a:rPr lang="en-US" sz="1400" b="1" dirty="0">
                <a:latin typeface="Roboto"/>
                <a:cs typeface="Roboto"/>
              </a:rPr>
              <a:t>1</a:t>
            </a:r>
            <a:r>
              <a:rPr lang="en-US" sz="1400" dirty="0">
                <a:latin typeface="Roboto"/>
                <a:cs typeface="Roboto"/>
              </a:rPr>
              <a:t>.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Lifestyle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prediction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and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interpretation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of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microbiome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principal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components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in</a:t>
            </a:r>
            <a:r>
              <a:rPr lang="en-US" sz="1400" spc="45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American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Gut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spc="-10" dirty="0">
                <a:latin typeface="Roboto"/>
                <a:cs typeface="Roboto"/>
              </a:rPr>
              <a:t>Project</a:t>
            </a:r>
            <a:endParaRPr lang="en-US" sz="1400" dirty="0">
              <a:latin typeface="Roboto"/>
              <a:cs typeface="Roboto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14928850" y="4712355"/>
            <a:ext cx="4802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Roboto"/>
                <a:cs typeface="Roboto"/>
              </a:rPr>
              <a:t>Figure</a:t>
            </a:r>
            <a:r>
              <a:rPr lang="en-US" sz="1400" b="1" spc="50" dirty="0">
                <a:latin typeface="Roboto"/>
                <a:cs typeface="Roboto"/>
              </a:rPr>
              <a:t> 2</a:t>
            </a:r>
            <a:r>
              <a:rPr lang="en-US" sz="1400" dirty="0">
                <a:latin typeface="Roboto"/>
                <a:cs typeface="Roboto"/>
              </a:rPr>
              <a:t>.</a:t>
            </a:r>
            <a:r>
              <a:rPr lang="en-US" sz="1400" spc="55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Association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of</a:t>
            </a:r>
            <a:r>
              <a:rPr lang="en-US" sz="1400" spc="55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projected</a:t>
            </a:r>
            <a:r>
              <a:rPr lang="en-US" sz="1400" spc="55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gut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microbiome</a:t>
            </a:r>
            <a:r>
              <a:rPr lang="en-US" sz="1400" spc="55" dirty="0">
                <a:latin typeface="Roboto"/>
                <a:cs typeface="Roboto"/>
              </a:rPr>
              <a:t> </a:t>
            </a:r>
            <a:r>
              <a:rPr lang="en-US" sz="1400" dirty="0">
                <a:latin typeface="Roboto"/>
                <a:cs typeface="Roboto"/>
              </a:rPr>
              <a:t>PC</a:t>
            </a:r>
            <a:r>
              <a:rPr lang="en-US" sz="1400" spc="50" dirty="0">
                <a:latin typeface="Roboto"/>
                <a:cs typeface="Roboto"/>
              </a:rPr>
              <a:t> </a:t>
            </a:r>
            <a:r>
              <a:rPr lang="en-US" sz="1400" spc="-20" dirty="0">
                <a:latin typeface="Roboto"/>
                <a:cs typeface="Roboto"/>
              </a:rPr>
              <a:t>with </a:t>
            </a:r>
            <a:r>
              <a:rPr lang="en-US" sz="1400" dirty="0">
                <a:latin typeface="Roboto"/>
                <a:cs typeface="Roboto"/>
              </a:rPr>
              <a:t>fluid</a:t>
            </a:r>
            <a:r>
              <a:rPr lang="en-US" sz="1400" spc="5" dirty="0">
                <a:latin typeface="Roboto"/>
                <a:cs typeface="Roboto"/>
              </a:rPr>
              <a:t> </a:t>
            </a:r>
            <a:r>
              <a:rPr lang="en-US" sz="1400" spc="-10" dirty="0">
                <a:latin typeface="Roboto"/>
                <a:cs typeface="Roboto"/>
              </a:rPr>
              <a:t>intelligence (std</a:t>
            </a:r>
            <a:r>
              <a:rPr lang="en-US" sz="1400" spc="-10" dirty="0" smtClean="0">
                <a:latin typeface="Roboto"/>
                <a:cs typeface="Roboto"/>
              </a:rPr>
              <a:t>. </a:t>
            </a:r>
            <a:r>
              <a:rPr lang="el-GR" sz="1400" dirty="0" smtClean="0">
                <a:latin typeface="Roboto"/>
              </a:rPr>
              <a:t>β</a:t>
            </a:r>
            <a:r>
              <a:rPr lang="en-US" sz="1400" spc="-10" dirty="0" smtClean="0">
                <a:latin typeface="Roboto"/>
                <a:cs typeface="Roboto"/>
              </a:rPr>
              <a:t> +/- </a:t>
            </a:r>
            <a:r>
              <a:rPr lang="en-US" sz="1400" spc="-10" dirty="0">
                <a:latin typeface="Roboto"/>
                <a:cs typeface="Roboto"/>
              </a:rPr>
              <a:t>95% CI).</a:t>
            </a:r>
            <a:endParaRPr lang="en-US" sz="1400" dirty="0">
              <a:latin typeface="Roboto"/>
              <a:cs typeface="Roboto"/>
            </a:endParaRPr>
          </a:p>
        </p:txBody>
      </p:sp>
      <p:pic>
        <p:nvPicPr>
          <p:cNvPr id="156" name="Google Shape;74;p14">
            <a:extLst>
              <a:ext uri="{FF2B5EF4-FFF2-40B4-BE49-F238E27FC236}">
                <a16:creationId xmlns:a16="http://schemas.microsoft.com/office/drawing/2014/main" id="{9851B461-2C2A-8448-2322-7D8ACCF44BC5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5220737" y="10373656"/>
            <a:ext cx="491917" cy="89605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76;p14">
            <a:extLst>
              <a:ext uri="{FF2B5EF4-FFF2-40B4-BE49-F238E27FC236}">
                <a16:creationId xmlns:a16="http://schemas.microsoft.com/office/drawing/2014/main" id="{72718FC0-86CA-6685-6911-475A6DDE0090}"/>
              </a:ext>
            </a:extLst>
          </p:cNvPr>
          <p:cNvSpPr txBox="1"/>
          <p:nvPr/>
        </p:nvSpPr>
        <p:spPr>
          <a:xfrm flipH="1">
            <a:off x="15712654" y="10397536"/>
            <a:ext cx="2511900" cy="553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003" tIns="60485" rIns="121003" bIns="6048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dirty="0">
                <a:latin typeface="Times New Roman"/>
                <a:ea typeface="Times New Roman"/>
                <a:cs typeface="Times New Roman"/>
                <a:sym typeface="Times New Roman"/>
              </a:rPr>
              <a:t>The Michael and Sonja Koerner Charitable Foundation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Straight Connector 162"/>
          <p:cNvCxnSpPr/>
          <p:nvPr/>
        </p:nvCxnSpPr>
        <p:spPr>
          <a:xfrm>
            <a:off x="15081043" y="10297386"/>
            <a:ext cx="464261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/>
        </p:nvSpPr>
        <p:spPr>
          <a:xfrm>
            <a:off x="15806100" y="10950575"/>
            <a:ext cx="35423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www.felskylab.com</a:t>
            </a:r>
          </a:p>
        </p:txBody>
      </p:sp>
      <p:pic>
        <p:nvPicPr>
          <p:cNvPr id="165" name="Picture 16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8344312" y="10349456"/>
            <a:ext cx="819508" cy="371564"/>
          </a:xfrm>
          <a:prstGeom prst="rect">
            <a:avLst/>
          </a:prstGeom>
        </p:spPr>
      </p:pic>
      <p:pic>
        <p:nvPicPr>
          <p:cNvPr id="166" name="Picture 16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983252" y="10798175"/>
            <a:ext cx="1577756" cy="392686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15094190" y="5260567"/>
            <a:ext cx="443936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50" dirty="0">
                <a:latin typeface="Roboto"/>
              </a:rPr>
              <a:t>Several projected MPCs were significantly associated with cognitive performance in </a:t>
            </a:r>
            <a:r>
              <a:rPr lang="en-US" sz="1750" dirty="0" smtClean="0">
                <a:latin typeface="Roboto"/>
              </a:rPr>
              <a:t>UKB (</a:t>
            </a:r>
            <a:r>
              <a:rPr lang="en-US" sz="1750" b="1" dirty="0" smtClean="0">
                <a:latin typeface="Roboto"/>
              </a:rPr>
              <a:t>Fig. 2</a:t>
            </a:r>
            <a:r>
              <a:rPr lang="en-US" sz="1750" dirty="0" smtClean="0">
                <a:latin typeface="Roboto"/>
              </a:rPr>
              <a:t>). </a:t>
            </a:r>
            <a:r>
              <a:rPr lang="en-US" sz="1750" dirty="0">
                <a:latin typeface="Roboto"/>
              </a:rPr>
              <a:t>The strongest </a:t>
            </a:r>
            <a:r>
              <a:rPr lang="en-US" sz="1750" dirty="0" smtClean="0">
                <a:latin typeface="Roboto"/>
              </a:rPr>
              <a:t>association </a:t>
            </a:r>
            <a:r>
              <a:rPr lang="en-US" sz="1750" dirty="0">
                <a:latin typeface="Roboto"/>
              </a:rPr>
              <a:t>was observed for MPC1, which represents </a:t>
            </a:r>
            <a:r>
              <a:rPr lang="en-US" sz="1750" i="1" spc="-20" dirty="0" err="1">
                <a:latin typeface="Roboto"/>
                <a:cs typeface="Roboto"/>
              </a:rPr>
              <a:t>Ruminococcus</a:t>
            </a:r>
            <a:r>
              <a:rPr lang="en-US" sz="1750" dirty="0">
                <a:latin typeface="Roboto"/>
              </a:rPr>
              <a:t> and is </a:t>
            </a:r>
            <a:r>
              <a:rPr lang="en-US" sz="1750" dirty="0" smtClean="0">
                <a:latin typeface="Roboto"/>
              </a:rPr>
              <a:t>largely predicted </a:t>
            </a:r>
            <a:r>
              <a:rPr lang="en-US" sz="1750" dirty="0">
                <a:latin typeface="Roboto"/>
              </a:rPr>
              <a:t>by fruit consumption </a:t>
            </a:r>
            <a:r>
              <a:rPr lang="en-US" sz="1750" dirty="0" smtClean="0">
                <a:latin typeface="Roboto"/>
              </a:rPr>
              <a:t>(</a:t>
            </a:r>
            <a:r>
              <a:rPr lang="el-GR" sz="1750" dirty="0" smtClean="0">
                <a:latin typeface="Roboto"/>
              </a:rPr>
              <a:t>β</a:t>
            </a:r>
            <a:r>
              <a:rPr lang="en-US" sz="1750" dirty="0" smtClean="0">
                <a:latin typeface="Roboto"/>
              </a:rPr>
              <a:t>=0.18, 95%CI[0.16,0.19], </a:t>
            </a:r>
            <a:r>
              <a:rPr lang="en-US" sz="1750" i="1" dirty="0" smtClean="0">
                <a:latin typeface="Roboto"/>
              </a:rPr>
              <a:t>p</a:t>
            </a:r>
            <a:r>
              <a:rPr lang="en-US" sz="1750" dirty="0" smtClean="0">
                <a:latin typeface="Roboto"/>
              </a:rPr>
              <a:t>=3.23x10</a:t>
            </a:r>
            <a:r>
              <a:rPr lang="en-US" sz="1750" baseline="30000" dirty="0" smtClean="0">
                <a:latin typeface="Roboto"/>
              </a:rPr>
              <a:t>-120</a:t>
            </a:r>
            <a:r>
              <a:rPr lang="en-US" sz="1750" dirty="0" smtClean="0">
                <a:latin typeface="Roboto"/>
              </a:rPr>
              <a:t>)</a:t>
            </a:r>
            <a:endParaRPr lang="en-US" sz="1750" dirty="0">
              <a:latin typeface="Roboto"/>
            </a:endParaRPr>
          </a:p>
          <a:p>
            <a:endParaRPr lang="en-US" sz="1750" dirty="0">
              <a:latin typeface="Roboto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2CB3CB-2FE4-62E0-B24E-F3A60C48D39C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0650" y="5828145"/>
            <a:ext cx="2697656" cy="22044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31E0716-BC10-0BB4-747D-AF4F2176B8C1}"/>
              </a:ext>
            </a:extLst>
          </p:cNvPr>
          <p:cNvSpPr txBox="1"/>
          <p:nvPr/>
        </p:nvSpPr>
        <p:spPr>
          <a:xfrm flipH="1">
            <a:off x="6423689" y="5726161"/>
            <a:ext cx="360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CA" spc="-50" dirty="0">
                <a:latin typeface="Roboto"/>
                <a:cs typeface="Roboto"/>
              </a:rPr>
              <a:t>A</a:t>
            </a:r>
            <a:endParaRPr lang="en-CA" dirty="0">
              <a:latin typeface="Roboto"/>
              <a:cs typeface="Roboto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0F1F8E-61A8-8777-D70C-F44FF7643660}"/>
              </a:ext>
            </a:extLst>
          </p:cNvPr>
          <p:cNvSpPr txBox="1"/>
          <p:nvPr/>
        </p:nvSpPr>
        <p:spPr>
          <a:xfrm flipH="1">
            <a:off x="6478884" y="7875895"/>
            <a:ext cx="360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CA" spc="-50" dirty="0">
                <a:latin typeface="Roboto"/>
                <a:cs typeface="Roboto"/>
              </a:rPr>
              <a:t>B</a:t>
            </a:r>
            <a:endParaRPr lang="en-CA" dirty="0">
              <a:latin typeface="Roboto"/>
              <a:cs typeface="Roboto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05E80554-D681-5A13-2794-D4CD0093B230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007" y="8198718"/>
            <a:ext cx="2671944" cy="209759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4CA5A368-72D7-CEA7-7883-FC493496087E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8227" y="5802620"/>
            <a:ext cx="3279590" cy="2244281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30BA1EED-BF10-621B-46B1-2BF3C57ACA28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5" y="8154508"/>
            <a:ext cx="3141474" cy="2366293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2F82CD18-BCC8-8787-3123-A1C488841496}"/>
              </a:ext>
            </a:extLst>
          </p:cNvPr>
          <p:cNvSpPr txBox="1"/>
          <p:nvPr/>
        </p:nvSpPr>
        <p:spPr>
          <a:xfrm flipH="1">
            <a:off x="11330176" y="5719065"/>
            <a:ext cx="360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CA" spc="-50" dirty="0">
                <a:latin typeface="Roboto"/>
                <a:cs typeface="Roboto"/>
              </a:rPr>
              <a:t>C</a:t>
            </a:r>
            <a:endParaRPr lang="en-CA" dirty="0">
              <a:latin typeface="Roboto"/>
              <a:cs typeface="Roboto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A5FCAF1-E753-06C6-A2D8-52CD98D36633}"/>
              </a:ext>
            </a:extLst>
          </p:cNvPr>
          <p:cNvSpPr txBox="1"/>
          <p:nvPr/>
        </p:nvSpPr>
        <p:spPr>
          <a:xfrm flipH="1">
            <a:off x="11338010" y="7814412"/>
            <a:ext cx="360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CA" spc="-50" dirty="0">
                <a:latin typeface="Roboto"/>
                <a:cs typeface="Roboto"/>
              </a:rPr>
              <a:t>D</a:t>
            </a:r>
            <a:endParaRPr lang="en-CA" dirty="0">
              <a:latin typeface="Roboto"/>
              <a:cs typeface="Roboto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9B5D4AC-F856-C79C-471F-1E8546C702A9}"/>
              </a:ext>
            </a:extLst>
          </p:cNvPr>
          <p:cNvSpPr txBox="1"/>
          <p:nvPr/>
        </p:nvSpPr>
        <p:spPr>
          <a:xfrm flipH="1">
            <a:off x="9212368" y="5724071"/>
            <a:ext cx="360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CA" spc="-50" dirty="0">
                <a:latin typeface="Roboto"/>
                <a:cs typeface="Roboto"/>
              </a:rPr>
              <a:t>E</a:t>
            </a:r>
            <a:endParaRPr lang="en-CA" dirty="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256</TotalTime>
  <Words>556</Words>
  <Application>Microsoft Office PowerPoint</Application>
  <PresentationFormat>Custom</PresentationFormat>
  <Paragraphs>75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Courier New</vt:lpstr>
      <vt:lpstr>Roboto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ML-LAMP: Machine-learning-derived Lifestyle-Associated Microbiome Profiles for Gut-brain Association Testing</dc:title>
  <dc:creator>dfelsky</dc:creator>
  <cp:lastModifiedBy>dfelsky</cp:lastModifiedBy>
  <cp:revision>29</cp:revision>
  <dcterms:created xsi:type="dcterms:W3CDTF">2026-04-10T16:47:35Z</dcterms:created>
  <dcterms:modified xsi:type="dcterms:W3CDTF">2026-04-10T22:58:03Z</dcterms:modified>
</cp:coreProperties>
</file>